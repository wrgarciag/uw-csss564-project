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D0C0_B275E923.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7FFFD0D5_B271F88A.xml" ContentType="application/vnd.ms-powerpoint.comments+xml"/>
  <Override PartName="/ppt/notesSlides/notesSlide10.xml" ContentType="application/vnd.openxmlformats-officedocument.presentationml.notesSlide+xml"/>
  <Override PartName="/ppt/comments/modernComment_7FFFD0D6_AE58AA6.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7FFFD0D8_87B726F2.xml" ContentType="application/vnd.ms-powerpoint.comments+xml"/>
  <Override PartName="/ppt/comments/modernComment_7FFFD0D9_55634B32.xml" ContentType="application/vnd.ms-powerpoint.comment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2147471489" r:id="rId2"/>
    <p:sldId id="2147471552" r:id="rId3"/>
    <p:sldId id="2147471549" r:id="rId4"/>
    <p:sldId id="2147471566" r:id="rId5"/>
    <p:sldId id="2147471568" r:id="rId6"/>
    <p:sldId id="2147471569" r:id="rId7"/>
    <p:sldId id="2147471571" r:id="rId8"/>
    <p:sldId id="2147471561" r:id="rId9"/>
    <p:sldId id="2147471573" r:id="rId10"/>
    <p:sldId id="2147471574" r:id="rId11"/>
    <p:sldId id="2147471575" r:id="rId12"/>
    <p:sldId id="2147471563" r:id="rId13"/>
    <p:sldId id="2147471562" r:id="rId14"/>
    <p:sldId id="2147471564" r:id="rId15"/>
    <p:sldId id="2147471576" r:id="rId16"/>
    <p:sldId id="2147471577" r:id="rId17"/>
    <p:sldId id="214747150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74E3A4E-7BCE-4BCB-F38E-75B11891CB0F}" name="William R Garcia" initials="WG" userId="S::wrgg@uw.edu::52698913-8803-44d0-b81a-d207944fdb3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ileen Murphy" initials="EM" lastIdx="3" clrIdx="0">
    <p:extLst>
      <p:ext uri="{19B8F6BF-5375-455C-9EA6-DF929625EA0E}">
        <p15:presenceInfo xmlns:p15="http://schemas.microsoft.com/office/powerpoint/2012/main" userId="S::emurphy@path.org::c6a4b136-e894-4fe9-95f5-5efa255caeee" providerId="AD"/>
      </p:ext>
    </p:extLst>
  </p:cmAuthor>
  <p:cmAuthor id="2" name="Mark Fajans" initials="MF" lastIdx="3" clrIdx="1">
    <p:extLst>
      <p:ext uri="{19B8F6BF-5375-455C-9EA6-DF929625EA0E}">
        <p15:presenceInfo xmlns:p15="http://schemas.microsoft.com/office/powerpoint/2012/main" userId="8a6c7322135fc9fd" providerId="Windows Live"/>
      </p:ext>
    </p:extLst>
  </p:cmAuthor>
  <p:cmAuthor id="3" name="Lara Kidoguchi" initials="LK" lastIdx="14" clrIdx="2">
    <p:extLst>
      <p:ext uri="{19B8F6BF-5375-455C-9EA6-DF929625EA0E}">
        <p15:presenceInfo xmlns:p15="http://schemas.microsoft.com/office/powerpoint/2012/main" userId="S-1-5-21-1478355014-127360780-1969717230-193837" providerId="AD"/>
      </p:ext>
    </p:extLst>
  </p:cmAuthor>
  <p:cmAuthor id="4" name="Xin Niu" initials="XN" lastIdx="16" clrIdx="3">
    <p:extLst>
      <p:ext uri="{19B8F6BF-5375-455C-9EA6-DF929625EA0E}">
        <p15:presenceInfo xmlns:p15="http://schemas.microsoft.com/office/powerpoint/2012/main" userId="c8d7fc09ec90903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2D83"/>
    <a:srgbClr val="816DA9"/>
    <a:srgbClr val="E8B930"/>
    <a:srgbClr val="E9D4A2"/>
    <a:srgbClr val="4B2E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7D4C0D-DE07-48B1-B256-BA50E5236282}" v="3" dt="2026-06-02T19:31:28.7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10"/>
    <p:restoredTop sz="72095"/>
  </p:normalViewPr>
  <p:slideViewPr>
    <p:cSldViewPr snapToGrid="0" snapToObjects="1">
      <p:cViewPr varScale="1">
        <p:scale>
          <a:sx n="76" d="100"/>
          <a:sy n="76" d="100"/>
        </p:scale>
        <p:origin x="1194" y="90"/>
      </p:cViewPr>
      <p:guideLst/>
    </p:cSldViewPr>
  </p:slideViewPr>
  <p:outlineViewPr>
    <p:cViewPr>
      <p:scale>
        <a:sx n="33" d="100"/>
        <a:sy n="33" d="100"/>
      </p:scale>
      <p:origin x="0" y="-1936"/>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 Garcia" userId="52698913-8803-44d0-b81a-d207944fdb38" providerId="ADAL" clId="{2E18606C-B16D-48DE-A10F-40DC70145920}"/>
    <pc:docChg chg="undo custSel addSld modSld sldOrd">
      <pc:chgData name="William R Garcia" userId="52698913-8803-44d0-b81a-d207944fdb38" providerId="ADAL" clId="{2E18606C-B16D-48DE-A10F-40DC70145920}" dt="2026-06-02T19:32:49.370" v="67" actId="207"/>
      <pc:docMkLst>
        <pc:docMk/>
      </pc:docMkLst>
      <pc:sldChg chg="modSp mod">
        <pc:chgData name="William R Garcia" userId="52698913-8803-44d0-b81a-d207944fdb38" providerId="ADAL" clId="{2E18606C-B16D-48DE-A10F-40DC70145920}" dt="2026-06-02T19:23:01.648" v="1"/>
        <pc:sldMkLst>
          <pc:docMk/>
          <pc:sldMk cId="2994071843" sldId="2147471552"/>
        </pc:sldMkLst>
        <pc:spChg chg="mod">
          <ac:chgData name="William R Garcia" userId="52698913-8803-44d0-b81a-d207944fdb38" providerId="ADAL" clId="{2E18606C-B16D-48DE-A10F-40DC70145920}" dt="2026-06-02T19:23:01.648" v="1"/>
          <ac:spMkLst>
            <pc:docMk/>
            <pc:sldMk cId="2994071843" sldId="2147471552"/>
            <ac:spMk id="6" creationId="{986A22C9-CC04-6A4C-B95B-34E6556D393F}"/>
          </ac:spMkLst>
        </pc:spChg>
      </pc:sldChg>
      <pc:sldChg chg="addSp delSp modSp mod">
        <pc:chgData name="William R Garcia" userId="52698913-8803-44d0-b81a-d207944fdb38" providerId="ADAL" clId="{2E18606C-B16D-48DE-A10F-40DC70145920}" dt="2026-06-02T19:25:51.024" v="15" actId="478"/>
        <pc:sldMkLst>
          <pc:docMk/>
          <pc:sldMk cId="728512305" sldId="2147471568"/>
        </pc:sldMkLst>
        <pc:spChg chg="add del mod">
          <ac:chgData name="William R Garcia" userId="52698913-8803-44d0-b81a-d207944fdb38" providerId="ADAL" clId="{2E18606C-B16D-48DE-A10F-40DC70145920}" dt="2026-06-02T19:25:51.024" v="15" actId="478"/>
          <ac:spMkLst>
            <pc:docMk/>
            <pc:sldMk cId="728512305" sldId="2147471568"/>
            <ac:spMk id="5" creationId="{62D588AD-DEF2-E049-7C89-58748C23A2DD}"/>
          </ac:spMkLst>
        </pc:spChg>
        <pc:graphicFrameChg chg="mod">
          <ac:chgData name="William R Garcia" userId="52698913-8803-44d0-b81a-d207944fdb38" providerId="ADAL" clId="{2E18606C-B16D-48DE-A10F-40DC70145920}" dt="2026-06-02T19:24:31.344" v="7" actId="1076"/>
          <ac:graphicFrameMkLst>
            <pc:docMk/>
            <pc:sldMk cId="728512305" sldId="2147471568"/>
            <ac:graphicFrameMk id="20" creationId="{38995C85-A6F7-8D47-A7E5-32EDA000E8D6}"/>
          </ac:graphicFrameMkLst>
        </pc:graphicFrameChg>
        <pc:picChg chg="mod">
          <ac:chgData name="William R Garcia" userId="52698913-8803-44d0-b81a-d207944fdb38" providerId="ADAL" clId="{2E18606C-B16D-48DE-A10F-40DC70145920}" dt="2026-06-02T19:24:33.214" v="8" actId="1076"/>
          <ac:picMkLst>
            <pc:docMk/>
            <pc:sldMk cId="728512305" sldId="2147471568"/>
            <ac:picMk id="3" creationId="{51BF2DB6-5DB2-FE53-4C9A-BFF2C038161C}"/>
          </ac:picMkLst>
        </pc:picChg>
      </pc:sldChg>
      <pc:sldChg chg="addSp modSp mod">
        <pc:chgData name="William R Garcia" userId="52698913-8803-44d0-b81a-d207944fdb38" providerId="ADAL" clId="{2E18606C-B16D-48DE-A10F-40DC70145920}" dt="2026-06-02T19:29:24.089" v="58" actId="20577"/>
        <pc:sldMkLst>
          <pc:docMk/>
          <pc:sldMk cId="182815398" sldId="2147471574"/>
        </pc:sldMkLst>
        <pc:spChg chg="add mod">
          <ac:chgData name="William R Garcia" userId="52698913-8803-44d0-b81a-d207944fdb38" providerId="ADAL" clId="{2E18606C-B16D-48DE-A10F-40DC70145920}" dt="2026-06-02T19:29:24.089" v="58" actId="20577"/>
          <ac:spMkLst>
            <pc:docMk/>
            <pc:sldMk cId="182815398" sldId="2147471574"/>
            <ac:spMk id="4" creationId="{5CFA405E-2F64-73EF-7426-40B63EB429D9}"/>
          </ac:spMkLst>
        </pc:spChg>
        <pc:picChg chg="mod">
          <ac:chgData name="William R Garcia" userId="52698913-8803-44d0-b81a-d207944fdb38" providerId="ADAL" clId="{2E18606C-B16D-48DE-A10F-40DC70145920}" dt="2026-06-02T19:26:31.891" v="16" actId="1076"/>
          <ac:picMkLst>
            <pc:docMk/>
            <pc:sldMk cId="182815398" sldId="2147471574"/>
            <ac:picMk id="3" creationId="{E9FD5B3C-B3DA-A47C-6ED1-6BC3502EC1C6}"/>
          </ac:picMkLst>
        </pc:picChg>
      </pc:sldChg>
      <pc:sldChg chg="modSp add mod ord">
        <pc:chgData name="William R Garcia" userId="52698913-8803-44d0-b81a-d207944fdb38" providerId="ADAL" clId="{2E18606C-B16D-48DE-A10F-40DC70145920}" dt="2026-06-02T19:32:49.370" v="67" actId="207"/>
        <pc:sldMkLst>
          <pc:docMk/>
          <pc:sldMk cId="1432570674" sldId="2147471577"/>
        </pc:sldMkLst>
        <pc:spChg chg="mod">
          <ac:chgData name="William R Garcia" userId="52698913-8803-44d0-b81a-d207944fdb38" providerId="ADAL" clId="{2E18606C-B16D-48DE-A10F-40DC70145920}" dt="2026-06-02T19:31:49.546" v="66" actId="207"/>
          <ac:spMkLst>
            <pc:docMk/>
            <pc:sldMk cId="1432570674" sldId="2147471577"/>
            <ac:spMk id="2" creationId="{B991E67C-A07C-B3B4-B2D2-3A190AC7005A}"/>
          </ac:spMkLst>
        </pc:spChg>
        <pc:spChg chg="mod">
          <ac:chgData name="William R Garcia" userId="52698913-8803-44d0-b81a-d207944fdb38" providerId="ADAL" clId="{2E18606C-B16D-48DE-A10F-40DC70145920}" dt="2026-06-02T19:31:43.730" v="65" actId="20577"/>
          <ac:spMkLst>
            <pc:docMk/>
            <pc:sldMk cId="1432570674" sldId="2147471577"/>
            <ac:spMk id="3" creationId="{6609E2E2-4B27-474C-9B74-AABC8F6D7B95}"/>
          </ac:spMkLst>
        </pc:spChg>
        <pc:spChg chg="mod">
          <ac:chgData name="William R Garcia" userId="52698913-8803-44d0-b81a-d207944fdb38" providerId="ADAL" clId="{2E18606C-B16D-48DE-A10F-40DC70145920}" dt="2026-06-02T19:32:49.370" v="67" actId="207"/>
          <ac:spMkLst>
            <pc:docMk/>
            <pc:sldMk cId="1432570674" sldId="2147471577"/>
            <ac:spMk id="10" creationId="{E3BDFD80-73AA-814E-BC1F-FC567A02C3FC}"/>
          </ac:spMkLst>
        </pc:spChg>
      </pc:sldChg>
    </pc:docChg>
  </pc:docChgLst>
</pc:chgInfo>
</file>

<file path=ppt/comments/modernComment_7FFFD0C0_B275E923.xml><?xml version="1.0" encoding="utf-8"?>
<p188:cmLst xmlns:a="http://schemas.openxmlformats.org/drawingml/2006/main" xmlns:r="http://schemas.openxmlformats.org/officeDocument/2006/relationships" xmlns:p188="http://schemas.microsoft.com/office/powerpoint/2018/8/main">
  <p188:cm id="{FF1084CC-9A73-4CED-9E48-6A214D9CC4C2}" authorId="{174E3A4E-7BCE-4BCB-F38E-75B11891CB0F}" created="2026-06-02T18:36:15.188">
    <ac:txMkLst xmlns:ac="http://schemas.microsoft.com/office/drawing/2013/main/command">
      <pc:docMk xmlns:pc="http://schemas.microsoft.com/office/powerpoint/2013/main/command"/>
      <pc:sldMk xmlns:pc="http://schemas.microsoft.com/office/powerpoint/2013/main/command" cId="2994071843" sldId="2147471552"/>
      <ac:spMk id="19" creationId="{0ECF07AF-AF09-514A-BF25-FF8EB9D8CC9D}"/>
      <ac:txMk cp="4" len="12">
        <ac:context len="282" hash="3975182966"/>
      </ac:txMk>
    </ac:txMkLst>
    <p188:pos x="1943100" y="342900"/>
    <p188:txBody>
      <a:bodyPr/>
      <a:lstStyle/>
      <a:p>
        <a:r>
          <a:rPr lang="en-US"/>
          <a:t>I would add: 1) More background on the problem/intervention. This is an interdisciplinary audience and likely would add that we find nothing because the intervention/hypothesis per se is not strong 2) A map of the clustering, but not prioritizing if time binding</a:t>
        </a:r>
      </a:p>
    </p188:txBody>
  </p188:cm>
</p188:cmLst>
</file>

<file path=ppt/comments/modernComment_7FFFD0D5_B271F88A.xml><?xml version="1.0" encoding="utf-8"?>
<p188:cmLst xmlns:a="http://schemas.openxmlformats.org/drawingml/2006/main" xmlns:r="http://schemas.openxmlformats.org/officeDocument/2006/relationships" xmlns:p188="http://schemas.microsoft.com/office/powerpoint/2018/8/main">
  <p188:cm id="{3571E837-7F77-4B63-B144-3C31CED7DC8A}" authorId="{174E3A4E-7BCE-4BCB-F38E-75B11891CB0F}" created="2026-06-02T18:40:19.404">
    <pc:sldMkLst xmlns:pc="http://schemas.microsoft.com/office/powerpoint/2013/main/command">
      <pc:docMk/>
      <pc:sldMk cId="2993813642" sldId="2147471573"/>
    </pc:sldMkLst>
    <p188:txBody>
      <a:bodyPr/>
      <a:lstStyle/>
      <a:p>
        <a:r>
          <a:rPr lang="en-US"/>
          <a:t>For the sake of time, I would move to the appendix. Not hiding for the sake of transparency</a:t>
        </a:r>
      </a:p>
    </p188:txBody>
  </p188:cm>
</p188:cmLst>
</file>

<file path=ppt/comments/modernComment_7FFFD0D6_AE58AA6.xml><?xml version="1.0" encoding="utf-8"?>
<p188:cmLst xmlns:a="http://schemas.openxmlformats.org/drawingml/2006/main" xmlns:r="http://schemas.openxmlformats.org/officeDocument/2006/relationships" xmlns:p188="http://schemas.microsoft.com/office/powerpoint/2018/8/main">
  <p188:cm id="{833E1A8D-E2A6-42E4-85CE-773BC688240B}" authorId="{174E3A4E-7BCE-4BCB-F38E-75B11891CB0F}" created="2026-06-02T18:41:54.009">
    <ac:deMkLst xmlns:ac="http://schemas.microsoft.com/office/drawing/2013/main/command">
      <pc:docMk xmlns:pc="http://schemas.microsoft.com/office/powerpoint/2013/main/command"/>
      <pc:sldMk xmlns:pc="http://schemas.microsoft.com/office/powerpoint/2013/main/command" cId="182815398" sldId="2147471574"/>
      <ac:spMk id="2" creationId="{FE6C0340-CFBF-F52E-072E-24D3DAD9160C}"/>
    </ac:deMkLst>
    <p188:txBody>
      <a:bodyPr/>
      <a:lstStyle/>
      <a:p>
        <a:r>
          <a:rPr lang="en-US"/>
          <a:t>I would add the bottom line in the slide</a:t>
        </a:r>
      </a:p>
    </p188:txBody>
  </p188:cm>
  <p188:cm id="{F11A58E8-6F2C-4CC9-AD55-EFDA3A567437}" authorId="{174E3A4E-7BCE-4BCB-F38E-75B11891CB0F}" created="2026-06-02T19:30:29.367">
    <ac:txMkLst xmlns:ac="http://schemas.microsoft.com/office/drawing/2013/main/command">
      <pc:docMk xmlns:pc="http://schemas.microsoft.com/office/powerpoint/2013/main/command"/>
      <pc:sldMk xmlns:pc="http://schemas.microsoft.com/office/powerpoint/2013/main/command" cId="182815398" sldId="2147471574"/>
      <ac:spMk id="4" creationId="{5CFA405E-2F64-73EF-7426-40B63EB429D9}"/>
      <ac:txMk cp="228" len="15">
        <ac:context len="244" hash="6685181"/>
      </ac:txMk>
    </ac:txMkLst>
    <p188:pos x="7312839" y="981023"/>
    <p188:txBody>
      <a:bodyPr/>
      <a:lstStyle/>
      <a:p>
        <a:r>
          <a:rPr lang="en-US"/>
          <a:t>Adding for: Our interpretation to sound more Bayesian (I hope) and give a foundation to keep exploring further analysis</a:t>
        </a:r>
      </a:p>
    </p188:txBody>
  </p188:cm>
</p188:cmLst>
</file>

<file path=ppt/comments/modernComment_7FFFD0D8_87B726F2.xml><?xml version="1.0" encoding="utf-8"?>
<p188:cmLst xmlns:a="http://schemas.openxmlformats.org/drawingml/2006/main" xmlns:r="http://schemas.openxmlformats.org/officeDocument/2006/relationships" xmlns:p188="http://schemas.microsoft.com/office/powerpoint/2018/8/main">
  <p188:cm id="{D173CBE0-AF68-4A3C-87DA-12A259C4DBDC}" authorId="{174E3A4E-7BCE-4BCB-F38E-75B11891CB0F}" created="2026-06-02T18:44:11.146">
    <ac:txMkLst xmlns:ac="http://schemas.microsoft.com/office/drawing/2013/main/command">
      <pc:docMk xmlns:pc="http://schemas.microsoft.com/office/powerpoint/2013/main/command"/>
      <pc:sldMk xmlns:pc="http://schemas.microsoft.com/office/powerpoint/2013/main/command" cId="2276927218" sldId="2147471576"/>
      <ac:spMk id="3" creationId="{6609E2E2-4B27-474C-9B74-AABC8F6D7B95}"/>
      <ac:txMk cp="18" len="8">
        <ac:context len="27" hash="397615488"/>
      </ac:txMk>
    </ac:txMkLst>
    <p188:pos x="3238500" y="342900"/>
    <p188:txBody>
      <a:bodyPr/>
      <a:lstStyle/>
      <a:p>
        <a:r>
          <a:rPr lang="en-US"/>
          <a:t>Lol hahaha</a:t>
        </a:r>
      </a:p>
    </p188:txBody>
  </p188:cm>
  <p188:cm id="{BA629421-F1AB-4E68-829D-1D05B1F7E7F1}" authorId="{174E3A4E-7BCE-4BCB-F38E-75B11891CB0F}" created="2026-06-02T18:45:01.023">
    <ac:txMkLst xmlns:ac="http://schemas.microsoft.com/office/drawing/2013/main/command">
      <pc:docMk xmlns:pc="http://schemas.microsoft.com/office/powerpoint/2013/main/command"/>
      <pc:sldMk xmlns:pc="http://schemas.microsoft.com/office/powerpoint/2013/main/command" cId="2276927218" sldId="2147471576"/>
      <ac:spMk id="2" creationId="{B991E67C-A07C-B3B4-B2D2-3A190AC7005A}"/>
      <ac:txMk cp="0" len="17">
        <ac:context len="18" hash="910145724"/>
      </ac:txMk>
    </ac:txMkLst>
    <p188:pos x="3136900" y="342900"/>
    <p188:txBody>
      <a:bodyPr/>
      <a:lstStyle/>
      <a:p>
        <a:r>
          <a:rPr lang="en-US"/>
          <a:t>Add a closing executive summary slide</a:t>
        </a:r>
      </a:p>
    </p188:txBody>
  </p188:cm>
</p188:cmLst>
</file>

<file path=ppt/comments/modernComment_7FFFD0D9_55634B32.xml><?xml version="1.0" encoding="utf-8"?>
<p188:cmLst xmlns:a="http://schemas.openxmlformats.org/drawingml/2006/main" xmlns:r="http://schemas.openxmlformats.org/officeDocument/2006/relationships" xmlns:p188="http://schemas.microsoft.com/office/powerpoint/2018/8/main">
  <p188:cm id="{735CD714-199C-47B7-A519-ED3A28BAE4FE}" authorId="{174E3A4E-7BCE-4BCB-F38E-75B11891CB0F}" created="2026-06-02T19:32:27.846">
    <ac:txMkLst xmlns:ac="http://schemas.microsoft.com/office/drawing/2013/main/command">
      <pc:docMk xmlns:pc="http://schemas.microsoft.com/office/powerpoint/2013/main/command"/>
      <pc:sldMk xmlns:pc="http://schemas.microsoft.com/office/powerpoint/2013/main/command" cId="1432570674" sldId="2147471577"/>
      <ac:spMk id="2" creationId="{B991E67C-A07C-B3B4-B2D2-3A190AC7005A}"/>
      <ac:txMk cp="0" len="7">
        <ac:context len="8" hash="3454249467"/>
      </ac:txMk>
    </ac:txMkLst>
    <p188:pos x="1841500" y="342900"/>
    <p188:txBody>
      <a:bodyPr/>
      <a:lstStyle/>
      <a:p>
        <a:r>
          <a:rPr lang="en-US"/>
          <a:t>Added to wrap it up and sound more Bayesian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E94AB9-CC82-B84C-BACE-9698A07E73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0EE1C13-7FB4-C147-80C1-A588A08760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4BE456-3A14-D445-B7B5-463B3144C52F}" type="datetimeFigureOut">
              <a:rPr lang="en-US" smtClean="0"/>
              <a:t>6/2/2026</a:t>
            </a:fld>
            <a:endParaRPr lang="en-US" dirty="0"/>
          </a:p>
        </p:txBody>
      </p:sp>
      <p:sp>
        <p:nvSpPr>
          <p:cNvPr id="4" name="Footer Placeholder 3">
            <a:extLst>
              <a:ext uri="{FF2B5EF4-FFF2-40B4-BE49-F238E27FC236}">
                <a16:creationId xmlns:a16="http://schemas.microsoft.com/office/drawing/2014/main" id="{0A5CDE48-5903-D343-AFB7-A14DB2F702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87407F5-09D1-ED45-A7CE-00813D40DA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1BCC17-2C5F-8B46-891B-AF9D945668DA}" type="slidenum">
              <a:rPr lang="en-US" smtClean="0"/>
              <a:t>‹#›</a:t>
            </a:fld>
            <a:endParaRPr lang="en-US" dirty="0"/>
          </a:p>
        </p:txBody>
      </p:sp>
    </p:spTree>
    <p:extLst>
      <p:ext uri="{BB962C8B-B14F-4D97-AF65-F5344CB8AC3E}">
        <p14:creationId xmlns:p14="http://schemas.microsoft.com/office/powerpoint/2010/main" val="11411457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076ABC-99D5-F649-88A1-3862407B2FA9}" type="datetimeFigureOut">
              <a:rPr lang="en-US" smtClean="0"/>
              <a:t>6/2/2026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2D953A-EDFF-6F44-AD06-4F45C1322C63}" type="slidenum">
              <a:rPr lang="en-US" smtClean="0"/>
              <a:t>‹#›</a:t>
            </a:fld>
            <a:endParaRPr lang="en-US" dirty="0"/>
          </a:p>
        </p:txBody>
      </p:sp>
    </p:spTree>
    <p:extLst>
      <p:ext uri="{BB962C8B-B14F-4D97-AF65-F5344CB8AC3E}">
        <p14:creationId xmlns:p14="http://schemas.microsoft.com/office/powerpoint/2010/main" val="2552323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Hi everyone, happy last day of the quarter.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My name is Yuwei, and this is my colleague, William. Today we are going to present on our final project, named: </a:t>
            </a:r>
            <a:r>
              <a:rPr lang="en-US" dirty="0"/>
              <a:t>Beyond Failing to Reject: A Bayesian Approach to Evaluating the Andilaye WASH Intervention. Our goal today is to show how a Bayesian reanalysis of an existing trial can turn a null result into something more informative. Let's start with the background and what drove us to ask these questions.</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10–15 minutes, 10–12 slides.</a:t>
            </a:r>
            <a:endParaRPr lang="en-US" dirty="0"/>
          </a:p>
        </p:txBody>
      </p:sp>
      <p:sp>
        <p:nvSpPr>
          <p:cNvPr id="4" name="Slide Number Placeholder 3"/>
          <p:cNvSpPr>
            <a:spLocks noGrp="1"/>
          </p:cNvSpPr>
          <p:nvPr>
            <p:ph type="sldNum" sz="quarter" idx="5"/>
          </p:nvPr>
        </p:nvSpPr>
        <p:spPr/>
        <p:txBody>
          <a:bodyPr/>
          <a:lstStyle/>
          <a:p>
            <a:fld id="{D7CF5153-B87D-B449-BFD0-1F6A3CEAE688}" type="slidenum">
              <a:rPr lang="en-US" smtClean="0"/>
              <a:t>1</a:t>
            </a:fld>
            <a:endParaRPr lang="en-US" dirty="0"/>
          </a:p>
        </p:txBody>
      </p:sp>
    </p:spTree>
    <p:extLst>
      <p:ext uri="{BB962C8B-B14F-4D97-AF65-F5344CB8AC3E}">
        <p14:creationId xmlns:p14="http://schemas.microsoft.com/office/powerpoint/2010/main" val="2001701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reanalyzes data from the Andilaye trial, a cluster-randomized controlled trial conducted in rural Amhara, Ethiopia. The intervention was a demand-side WASH promotion program that worked across multiple levels, from district down to household, using community change agents to drive behavior change around water, sanitation, and hygiene.</a:t>
            </a:r>
          </a:p>
          <a:p>
            <a:r>
              <a:rPr lang="en-US" dirty="0"/>
              <a:t>Both the original published analysis using generalized </a:t>
            </a:r>
            <a:r>
              <a:rPr lang="en-US" sz="1200" kern="1200" dirty="0">
                <a:solidFill>
                  <a:schemeClr val="tx1"/>
                </a:solidFill>
                <a:effectLst/>
                <a:latin typeface="+mn-lt"/>
                <a:ea typeface="+mn-ea"/>
                <a:cs typeface="+mn-cs"/>
              </a:rPr>
              <a:t>Estimating Equations</a:t>
            </a:r>
            <a:r>
              <a:rPr lang="en-US" dirty="0"/>
              <a:t> and my own reanalysis using mixed-effects models found non-significant effects on mental health outcomes. But here's the problem: a non-significant p-value cannot tell us whether the intervention truly had no effect, or whether the study simply lacked the power to detect one. That distinction matters enormously for policy.</a:t>
            </a:r>
          </a:p>
          <a:p>
            <a:r>
              <a:rPr lang="en-US" dirty="0"/>
              <a:t>So we are asking two questions. First, what is the posterior probability that the intervention's effect falls inside a Region of Practical Equivalence around zero? This lets us make a positive claim about practical null effects rather than just failing to reject. Second, what does the full posterior distribution of between-kebele variance look like? With 50 kebeles in this trial, understanding how much clustering exists in mental health outcomes is a substantive question that frequentist methods only partially address.</a:t>
            </a:r>
          </a:p>
          <a:p>
            <a:endParaRPr lang="en-US" dirty="0"/>
          </a:p>
        </p:txBody>
      </p:sp>
      <p:sp>
        <p:nvSpPr>
          <p:cNvPr id="4" name="Slide Number Placeholder 3"/>
          <p:cNvSpPr>
            <a:spLocks noGrp="1"/>
          </p:cNvSpPr>
          <p:nvPr>
            <p:ph type="sldNum" sz="quarter" idx="5"/>
          </p:nvPr>
        </p:nvSpPr>
        <p:spPr/>
        <p:txBody>
          <a:bodyPr/>
          <a:lstStyle/>
          <a:p>
            <a:fld id="{012D953A-EDFF-6F44-AD06-4F45C1322C63}" type="slidenum">
              <a:rPr lang="en-US" smtClean="0"/>
              <a:t>2</a:t>
            </a:fld>
            <a:endParaRPr lang="en-US" dirty="0"/>
          </a:p>
        </p:txBody>
      </p:sp>
    </p:spTree>
    <p:extLst>
      <p:ext uri="{BB962C8B-B14F-4D97-AF65-F5344CB8AC3E}">
        <p14:creationId xmlns:p14="http://schemas.microsoft.com/office/powerpoint/2010/main" val="1631358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analytic sample comes from the endline wave of the Andilaye trial, covering 1,472 households across all 50 kebeles, split evenly between intervention and control group.</a:t>
            </a:r>
          </a:p>
          <a:p>
            <a:r>
              <a:rPr lang="en-US" dirty="0"/>
              <a:t>Looking at the three outcomes, anxiety is the most prevalent at 23.5%, followed by emotional distress at 18.5%, and depression at 15.6%. Importantly, in all three cases the control arm has slightly higher prevalence than the intervention arm, which is what motivated the original analyses, but those differences were not statistically significant.</a:t>
            </a:r>
          </a:p>
          <a:p>
            <a:r>
              <a:rPr lang="en-US" dirty="0"/>
              <a:t>On the design side, this is a parallel cluster-RCT. The unit of randomization is the kebele, and assignment was stratified by woreda. In our model, woreda enters as a fixed covariate with </a:t>
            </a:r>
            <a:r>
              <a:rPr lang="en-US" dirty="0" err="1"/>
              <a:t>Farta</a:t>
            </a:r>
            <a:r>
              <a:rPr lang="en-US" dirty="0"/>
              <a:t> as the reference category, and kebele contributes random intercepts, which is the clustering structure our hierarchical model is built to handle.</a:t>
            </a:r>
          </a:p>
          <a:p>
            <a:r>
              <a:rPr lang="en-US" dirty="0"/>
              <a:t>For measurement, mental health was assessed using a household-level adaptation of the Hopkins Symptom Checklist, combining 10 anxiety items and 13 depression items on a 1 to 4 scale. We aggregate to the household level by averaging across eligible members, and a probable case is defined as a mean item score of 1.75 or above. Emotional distress combines information across all 23 items.</a:t>
            </a:r>
          </a:p>
          <a:p>
            <a:r>
              <a:rPr lang="en-US" dirty="0"/>
              <a:t>One practical note: missingness is negligible at 0.3%, and after household-level aggregation, there are no missing values, so we proceed with complete case analysis without any imputation.</a:t>
            </a:r>
          </a:p>
          <a:p>
            <a:endParaRPr lang="en-US" dirty="0"/>
          </a:p>
        </p:txBody>
      </p:sp>
      <p:sp>
        <p:nvSpPr>
          <p:cNvPr id="4" name="Slide Number Placeholder 3"/>
          <p:cNvSpPr>
            <a:spLocks noGrp="1"/>
          </p:cNvSpPr>
          <p:nvPr>
            <p:ph type="sldNum" sz="quarter" idx="5"/>
          </p:nvPr>
        </p:nvSpPr>
        <p:spPr/>
        <p:txBody>
          <a:bodyPr/>
          <a:lstStyle/>
          <a:p>
            <a:fld id="{012D953A-EDFF-6F44-AD06-4F45C1322C63}" type="slidenum">
              <a:rPr lang="en-US" smtClean="0"/>
              <a:t>3</a:t>
            </a:fld>
            <a:endParaRPr lang="en-US" dirty="0"/>
          </a:p>
        </p:txBody>
      </p:sp>
    </p:spTree>
    <p:extLst>
      <p:ext uri="{BB962C8B-B14F-4D97-AF65-F5344CB8AC3E}">
        <p14:creationId xmlns:p14="http://schemas.microsoft.com/office/powerpoint/2010/main" val="874953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07460-17B5-945E-7D70-20264725D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45092-C79E-0321-034A-2C03060CBA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DBB71D-B659-4ABC-ECCE-11593363FDA9}"/>
              </a:ext>
            </a:extLst>
          </p:cNvPr>
          <p:cNvSpPr>
            <a:spLocks noGrp="1"/>
          </p:cNvSpPr>
          <p:nvPr>
            <p:ph type="body" idx="1"/>
          </p:nvPr>
        </p:nvSpPr>
        <p:spPr/>
        <p:txBody>
          <a:bodyPr/>
          <a:lstStyle/>
          <a:p>
            <a:r>
              <a:rPr lang="en-US" dirty="0"/>
              <a:t>We fit three separate Bayesian hierarchical logistic regression models, one for each outcome: anxiety, depression, and emotional distress.</a:t>
            </a:r>
          </a:p>
          <a:p>
            <a:r>
              <a:rPr lang="en-US" dirty="0"/>
              <a:t>The model structure is the same across all three. Each household's binary outcome follows a Bernoulli distribution, and we model the log-odds through three components on the linear predictor. The alpha term captures the kebele-level random intercept, giving us partial pooling across all 50 kebeles. The beta-treatment term is our treatment log-odds ratio. And gamma captures the woreda fixed effects, with </a:t>
            </a:r>
            <a:r>
              <a:rPr lang="en-US" dirty="0" err="1"/>
              <a:t>Farta</a:t>
            </a:r>
            <a:r>
              <a:rPr lang="en-US" dirty="0"/>
              <a:t> as the reference category, which mirrors the original trial's design and accounts for the stratified randomization.</a:t>
            </a:r>
          </a:p>
          <a:p>
            <a:r>
              <a:rPr lang="en-US" dirty="0"/>
              <a:t>Now, rather than reporting the treatment effect purely on the log-odds scale, which is hard to interpret clinically, our primary </a:t>
            </a:r>
            <a:r>
              <a:rPr lang="en-US" dirty="0" err="1"/>
              <a:t>estimand</a:t>
            </a:r>
            <a:r>
              <a:rPr lang="en-US" dirty="0"/>
              <a:t> is the Average Predictive Difference, or APD. This is the average difference in predicted probability between the intervention and control conditions, integrated over the full posterior and over the observed covariate distribution. Concretely, for each posterior draw, we compute the predicted probability of being a probable case under treatment and under control for every household, take the difference, and average across households. That gives us a probability-scale effect size that is directly interpretable.</a:t>
            </a:r>
          </a:p>
          <a:p>
            <a:r>
              <a:rPr lang="en-US" dirty="0"/>
              <a:t>We report the posterior mean, the 95% Highest Density Interval, the posterior probability that the absolute APD is smaller than 5 percentage points, which is our prespecified </a:t>
            </a:r>
            <a:r>
              <a:rPr lang="en-US" sz="1200" kern="1200" dirty="0">
                <a:solidFill>
                  <a:schemeClr val="tx1"/>
                </a:solidFill>
                <a:effectLst/>
                <a:latin typeface="+mn-lt"/>
                <a:ea typeface="+mn-ea"/>
                <a:cs typeface="+mn-cs"/>
              </a:rPr>
              <a:t>Region of Practical Equivalence</a:t>
            </a:r>
            <a:r>
              <a:rPr lang="en-US" dirty="0"/>
              <a:t>, and the Number Needed to Treat, which is simply one divided by the absolute APD.</a:t>
            </a:r>
          </a:p>
          <a:p>
            <a:endParaRPr lang="en-US" dirty="0"/>
          </a:p>
        </p:txBody>
      </p:sp>
      <p:sp>
        <p:nvSpPr>
          <p:cNvPr id="4" name="Slide Number Placeholder 3">
            <a:extLst>
              <a:ext uri="{FF2B5EF4-FFF2-40B4-BE49-F238E27FC236}">
                <a16:creationId xmlns:a16="http://schemas.microsoft.com/office/drawing/2014/main" id="{B2371976-48CF-BC40-EAA6-DF4AF7F707FF}"/>
              </a:ext>
            </a:extLst>
          </p:cNvPr>
          <p:cNvSpPr>
            <a:spLocks noGrp="1"/>
          </p:cNvSpPr>
          <p:nvPr>
            <p:ph type="sldNum" sz="quarter" idx="5"/>
          </p:nvPr>
        </p:nvSpPr>
        <p:spPr/>
        <p:txBody>
          <a:bodyPr/>
          <a:lstStyle/>
          <a:p>
            <a:fld id="{012D953A-EDFF-6F44-AD06-4F45C1322C63}" type="slidenum">
              <a:rPr lang="en-US" smtClean="0"/>
              <a:t>4</a:t>
            </a:fld>
            <a:endParaRPr lang="en-US" dirty="0"/>
          </a:p>
        </p:txBody>
      </p:sp>
    </p:spTree>
    <p:extLst>
      <p:ext uri="{BB962C8B-B14F-4D97-AF65-F5344CB8AC3E}">
        <p14:creationId xmlns:p14="http://schemas.microsoft.com/office/powerpoint/2010/main" val="162725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0329C-FD34-621B-682D-BBD65FC0F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55251-50AF-3056-F20A-0D3099100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353BD-4DB2-38D5-8ED1-75034DA369D3}"/>
              </a:ext>
            </a:extLst>
          </p:cNvPr>
          <p:cNvSpPr>
            <a:spLocks noGrp="1"/>
          </p:cNvSpPr>
          <p:nvPr>
            <p:ph type="body" idx="1"/>
          </p:nvPr>
        </p:nvSpPr>
        <p:spPr/>
        <p:txBody>
          <a:bodyPr/>
          <a:lstStyle/>
          <a:p>
            <a:r>
              <a:rPr lang="en-US" dirty="0"/>
              <a:t>We started with very weakly informative priors on all the parameters: Normal(0, 1) priors on the treatment coefficient and woreda fixed effects, which on the log-odds scale allows for effects ranging roughly from an odds ratio of 0.1 to 7.</a:t>
            </a:r>
          </a:p>
          <a:p>
            <a:r>
              <a:rPr lang="en-US" dirty="0"/>
              <a:t>The prior predictive check, however, told us we needed to make two adjustments. The initial Normal(0, 1) on the grand mean intercept mu-zero implied a prior predictive distribution centered around 50% prevalence, which is implausible for mental health screening in this context, where observed prevalences are all below 25%. So we updated mu-zero to a more informative prior, which anchors the prior predictive mass closer to the 10 to 30% range we expect.</a:t>
            </a:r>
          </a:p>
          <a:p>
            <a:r>
              <a:rPr lang="en-US" dirty="0"/>
              <a:t>Similarly, the initial Half-t prior on the between-kebele standard deviation was generating too much between-cluster heterogeneity. We also tightened it, which keeps cluster-level variation more modest and realistic.</a:t>
            </a:r>
          </a:p>
          <a:p>
            <a:r>
              <a:rPr lang="en-US" dirty="0"/>
              <a:t>Looking at the final prior predictive distribution on the right, you can see the three vertical lines marking our observed endline prevalences for anxiety, depression, and emotional distress, all sitting comfortably within the bulk of the prior predictive mass. This tells us the priors are weakly informative in the right direction.</a:t>
            </a:r>
          </a:p>
          <a:p>
            <a:endParaRPr lang="en-US" dirty="0"/>
          </a:p>
        </p:txBody>
      </p:sp>
      <p:sp>
        <p:nvSpPr>
          <p:cNvPr id="4" name="Slide Number Placeholder 3">
            <a:extLst>
              <a:ext uri="{FF2B5EF4-FFF2-40B4-BE49-F238E27FC236}">
                <a16:creationId xmlns:a16="http://schemas.microsoft.com/office/drawing/2014/main" id="{ABDB423E-3EA1-D31F-5BB9-2CCC2FD5F192}"/>
              </a:ext>
            </a:extLst>
          </p:cNvPr>
          <p:cNvSpPr>
            <a:spLocks noGrp="1"/>
          </p:cNvSpPr>
          <p:nvPr>
            <p:ph type="sldNum" sz="quarter" idx="5"/>
          </p:nvPr>
        </p:nvSpPr>
        <p:spPr/>
        <p:txBody>
          <a:bodyPr/>
          <a:lstStyle/>
          <a:p>
            <a:fld id="{012D953A-EDFF-6F44-AD06-4F45C1322C63}" type="slidenum">
              <a:rPr lang="en-US" smtClean="0"/>
              <a:t>5</a:t>
            </a:fld>
            <a:endParaRPr lang="en-US" dirty="0"/>
          </a:p>
        </p:txBody>
      </p:sp>
    </p:spTree>
    <p:extLst>
      <p:ext uri="{BB962C8B-B14F-4D97-AF65-F5344CB8AC3E}">
        <p14:creationId xmlns:p14="http://schemas.microsoft.com/office/powerpoint/2010/main" val="3386144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D953A-EDFF-6F44-AD06-4F45C1322C63}" type="slidenum">
              <a:rPr lang="en-US" smtClean="0"/>
              <a:t>6</a:t>
            </a:fld>
            <a:endParaRPr lang="en-US" dirty="0"/>
          </a:p>
        </p:txBody>
      </p:sp>
    </p:spTree>
    <p:extLst>
      <p:ext uri="{BB962C8B-B14F-4D97-AF65-F5344CB8AC3E}">
        <p14:creationId xmlns:p14="http://schemas.microsoft.com/office/powerpoint/2010/main" val="278664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2FEF9-E273-3AB6-18BC-AC5117B7A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6C2347-9414-5F2B-81B4-38C2F0091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AD66A-D88E-14F2-3ED5-18404B4CC0F0}"/>
              </a:ext>
            </a:extLst>
          </p:cNvPr>
          <p:cNvSpPr>
            <a:spLocks noGrp="1"/>
          </p:cNvSpPr>
          <p:nvPr>
            <p:ph type="body" idx="1"/>
          </p:nvPr>
        </p:nvSpPr>
        <p:spPr/>
        <p:txBody>
          <a:bodyPr/>
          <a:lstStyle/>
          <a:p>
            <a:r>
              <a:rPr lang="en-US" dirty="0"/>
              <a:t>All three models were fit in R using JAGS via the </a:t>
            </a:r>
            <a:r>
              <a:rPr lang="en-US" dirty="0" err="1"/>
              <a:t>rjags</a:t>
            </a:r>
            <a:r>
              <a:rPr lang="en-US" dirty="0"/>
              <a:t> package, running Gibbs sampling with 4 independent chains. We discarded the first 10,000 iterations as burn-in, then collected 20,000 post-burn-in iterations thinned by 2, giving us 10,000 draws per chain and 40,000 total posterior samples per model. We compared this primary model with a version adding baseline score as a covariate using LOO, and we actually preferred ANCOVA models. This makes sense because conditioning on baseline mental health scores absorbs a large share of individual-level variance, sharpening our estimate of the treatment effect without changing the model's causal interpretation. All results from this point forward are from the ANCOVA models.</a:t>
            </a:r>
          </a:p>
          <a:p>
            <a:endParaRPr lang="en-US" dirty="0"/>
          </a:p>
          <a:p>
            <a:r>
              <a:rPr lang="en-US" dirty="0"/>
              <a:t>The trace plots on the right give us a first visual check of convergence. Each row shows a different parameter: the top row is the treatment log-odds ratio, and the bottom row is the between-kebele standard deviation sigma. Columns correspond to our three outcomes. What we want to see are "fuzzy caterpillars”. The top row about beta looks fine. But the bottom row for sigma is a bit</a:t>
            </a:r>
            <a:r>
              <a:rPr lang="en-US" baseline="0" dirty="0"/>
              <a:t> </a:t>
            </a:r>
            <a:r>
              <a:rPr lang="en-US" dirty="0"/>
              <a:t>more ragged.</a:t>
            </a:r>
            <a:r>
              <a:rPr lang="en-US" baseline="0" dirty="0"/>
              <a:t> </a:t>
            </a:r>
            <a:r>
              <a:rPr lang="en-US" dirty="0"/>
              <a:t>this is the funnel problem we discussed in class. We can see that sigma drifts near zero, the posterior geometry narrows into a funnel that is hard for the sampler to navigate, producing the spiky behavior you see here, especially for depression and emotional distress. </a:t>
            </a:r>
          </a:p>
        </p:txBody>
      </p:sp>
      <p:sp>
        <p:nvSpPr>
          <p:cNvPr id="4" name="Slide Number Placeholder 3">
            <a:extLst>
              <a:ext uri="{FF2B5EF4-FFF2-40B4-BE49-F238E27FC236}">
                <a16:creationId xmlns:a16="http://schemas.microsoft.com/office/drawing/2014/main" id="{4BD38096-6B52-40D9-77AE-B07943E36B4E}"/>
              </a:ext>
            </a:extLst>
          </p:cNvPr>
          <p:cNvSpPr>
            <a:spLocks noGrp="1"/>
          </p:cNvSpPr>
          <p:nvPr>
            <p:ph type="sldNum" sz="quarter" idx="5"/>
          </p:nvPr>
        </p:nvSpPr>
        <p:spPr/>
        <p:txBody>
          <a:bodyPr/>
          <a:lstStyle/>
          <a:p>
            <a:fld id="{012D953A-EDFF-6F44-AD06-4F45C1322C63}" type="slidenum">
              <a:rPr lang="en-US" smtClean="0"/>
              <a:t>7</a:t>
            </a:fld>
            <a:endParaRPr lang="en-US" dirty="0"/>
          </a:p>
        </p:txBody>
      </p:sp>
    </p:spTree>
    <p:extLst>
      <p:ext uri="{BB962C8B-B14F-4D97-AF65-F5344CB8AC3E}">
        <p14:creationId xmlns:p14="http://schemas.microsoft.com/office/powerpoint/2010/main" val="1725726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03239-C860-2346-18D2-3ACA40FAE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EAA0B-375F-20F4-A6E9-5DA2B6BC2AF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7D1319A-40E3-2C81-8F76-B0D7E6B4EE0E}"/>
                  </a:ext>
                </a:extLst>
              </p:cNvPr>
              <p:cNvSpPr>
                <a:spLocks noGrp="1"/>
              </p:cNvSpPr>
              <p:nvPr>
                <p:ph type="body" idx="1"/>
              </p:nvPr>
            </p:nvSpPr>
            <p:spPr/>
            <p:txBody>
              <a:bodyPr/>
              <a:lstStyle/>
              <a:p>
                <a:r>
                  <a:rPr lang="en-US" dirty="0"/>
                  <a:t>So these are our formal convergence numbers for the ANCOVA models. We can see that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𝛽</m:t>
                        </m:r>
                      </m:e>
                      <m:sub>
                        <m:r>
                          <m:rPr>
                            <m:nor/>
                          </m:rPr>
                          <a:rPr lang="en-US" sz="1200" b="0" i="1" kern="1200">
                            <a:solidFill>
                              <a:schemeClr val="tx1"/>
                            </a:solidFill>
                            <a:latin typeface="+mn-lt"/>
                            <a:ea typeface="+mn-ea"/>
                            <a:cs typeface="+mn-cs"/>
                          </a:rPr>
                          <m:t>trt</m:t>
                        </m:r>
                      </m:sub>
                    </m:sSub>
                  </m:oMath>
                </a14:m>
                <a:r>
                  <a:rPr lang="en-US" dirty="0"/>
                  <a:t>looks good across all three outcomes — ESS well above 2,000, R-hat well behaved.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𝜇</m:t>
                        </m:r>
                      </m:e>
                      <m:sub>
                        <m:r>
                          <a:rPr lang="ar-AE" sz="1200" i="0" kern="1200">
                            <a:solidFill>
                              <a:schemeClr val="tx1"/>
                            </a:solidFill>
                            <a:latin typeface="Cambria Math" panose="02040503050406030204" pitchFamily="18" charset="0"/>
                            <a:ea typeface="+mn-ea"/>
                            <a:cs typeface="+mn-cs"/>
                          </a:rPr>
                          <m:t>0</m:t>
                        </m:r>
                      </m:sub>
                    </m:sSub>
                  </m:oMath>
                </a14:m>
                <a:r>
                  <a:rPr lang="en-US" dirty="0"/>
                  <a:t>for anxiety is just nudging above the 1.01 threshold</a:t>
                </a:r>
                <a:r>
                  <a:rPr lang="en-US" baseline="0" dirty="0"/>
                  <a:t> on R hat</a:t>
                </a:r>
                <a:r>
                  <a:rPr lang="en-US" dirty="0"/>
                  <a:t>, 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𝜎</m:t>
                        </m:r>
                      </m:e>
                      <m:sub>
                        <m:r>
                          <m:rPr>
                            <m:nor/>
                          </m:rPr>
                          <a:rPr lang="en-US" sz="1200" b="0" i="1" kern="1200">
                            <a:solidFill>
                              <a:schemeClr val="tx1"/>
                            </a:solidFill>
                            <a:latin typeface="+mn-lt"/>
                            <a:ea typeface="+mn-ea"/>
                            <a:cs typeface="+mn-cs"/>
                          </a:rPr>
                          <m:t>cluster</m:t>
                        </m:r>
                      </m:sub>
                    </m:sSub>
                  </m:oMath>
                </a14:m>
                <a:r>
                  <a:rPr lang="en-US" dirty="0"/>
                  <a:t>for emotion has ESS of 301, below our 400 threshold. Same funnel story as before, nothing that changes our conclusions about the treatment effect.</a:t>
                </a:r>
              </a:p>
            </p:txBody>
          </p:sp>
        </mc:Choice>
        <mc:Fallback xmlns="">
          <p:sp>
            <p:nvSpPr>
              <p:cNvPr id="3" name="Notes Placeholder 2">
                <a:extLst>
                  <a:ext uri="{FF2B5EF4-FFF2-40B4-BE49-F238E27FC236}">
                    <a16:creationId xmlns:a16="http://schemas.microsoft.com/office/drawing/2014/main" id="{47D1319A-40E3-2C81-8F76-B0D7E6B4EE0E}"/>
                  </a:ext>
                </a:extLst>
              </p:cNvPr>
              <p:cNvSpPr>
                <a:spLocks noGrp="1"/>
              </p:cNvSpPr>
              <p:nvPr>
                <p:ph type="body" idx="1"/>
              </p:nvPr>
            </p:nvSpPr>
            <p:spPr/>
            <p:txBody>
              <a:bodyPr/>
              <a:lstStyle/>
              <a:p>
                <a:r>
                  <a:rPr lang="en-US" dirty="0"/>
                  <a:t>So these are our formal convergence numbers for the ANCOVA models. We can see that </a:t>
                </a:r>
                <a:r>
                  <a:rPr lang="ar-AE" sz="1200" i="0" kern="1200">
                    <a:solidFill>
                      <a:schemeClr val="tx1"/>
                    </a:solidFill>
                    <a:latin typeface="+mn-lt"/>
                    <a:ea typeface="+mn-ea"/>
                    <a:cs typeface="+mn-cs"/>
                  </a:rPr>
                  <a:t>𝛽_</a:t>
                </a:r>
                <a:r>
                  <a:rPr lang="en-US" sz="1200" b="0" i="0" kern="1200">
                    <a:solidFill>
                      <a:schemeClr val="tx1"/>
                    </a:solidFill>
                    <a:latin typeface="+mn-lt"/>
                    <a:ea typeface="+mn-ea"/>
                    <a:cs typeface="+mn-cs"/>
                  </a:rPr>
                  <a:t>"trt</a:t>
                </a:r>
                <a:r>
                  <a:rPr lang="ar-AE" sz="1200" b="0" i="0" kern="1200">
                    <a:solidFill>
                      <a:schemeClr val="tx1"/>
                    </a:solidFill>
                    <a:latin typeface="+mn-lt"/>
                    <a:ea typeface="+mn-ea"/>
                    <a:cs typeface="+mn-cs"/>
                  </a:rPr>
                  <a:t>" </a:t>
                </a:r>
                <a:r>
                  <a:rPr lang="en-US" dirty="0"/>
                  <a:t>looks good across all three outcomes — ESS well above 2,000, R-hat well behaved. </a:t>
                </a:r>
                <a:r>
                  <a:rPr lang="ar-AE" sz="1200" i="0" kern="1200">
                    <a:solidFill>
                      <a:schemeClr val="tx1"/>
                    </a:solidFill>
                    <a:latin typeface="+mn-lt"/>
                    <a:ea typeface="+mn-ea"/>
                    <a:cs typeface="+mn-cs"/>
                  </a:rPr>
                  <a:t>𝜇_0</a:t>
                </a:r>
                <a:r>
                  <a:rPr lang="en-US" dirty="0"/>
                  <a:t>for anxiety is just nudging above the 1.01 threshold</a:t>
                </a:r>
                <a:r>
                  <a:rPr lang="en-US" baseline="0" dirty="0"/>
                  <a:t> on R hat</a:t>
                </a:r>
                <a:r>
                  <a:rPr lang="en-US" dirty="0"/>
                  <a:t>, and </a:t>
                </a:r>
                <a:r>
                  <a:rPr lang="ar-AE" sz="1200" i="0" kern="1200">
                    <a:solidFill>
                      <a:schemeClr val="tx1"/>
                    </a:solidFill>
                    <a:latin typeface="+mn-lt"/>
                    <a:ea typeface="+mn-ea"/>
                    <a:cs typeface="+mn-cs"/>
                  </a:rPr>
                  <a:t>𝜎_</a:t>
                </a:r>
                <a:r>
                  <a:rPr lang="en-US" sz="1200" b="0" i="0" kern="1200">
                    <a:solidFill>
                      <a:schemeClr val="tx1"/>
                    </a:solidFill>
                    <a:latin typeface="+mn-lt"/>
                    <a:ea typeface="+mn-ea"/>
                    <a:cs typeface="+mn-cs"/>
                  </a:rPr>
                  <a:t>"cluster</a:t>
                </a:r>
                <a:r>
                  <a:rPr lang="ar-AE" sz="1200" b="0" i="0" kern="1200">
                    <a:solidFill>
                      <a:schemeClr val="tx1"/>
                    </a:solidFill>
                    <a:latin typeface="+mn-lt"/>
                    <a:ea typeface="+mn-ea"/>
                    <a:cs typeface="+mn-cs"/>
                  </a:rPr>
                  <a:t>" </a:t>
                </a:r>
                <a:r>
                  <a:rPr lang="en-US" dirty="0"/>
                  <a:t>for emotion has ESS of 301, below our 400 threshold. Same funnel story as before, nothing that changes our conclusions about the treatment effect.</a:t>
                </a:r>
              </a:p>
            </p:txBody>
          </p:sp>
        </mc:Fallback>
      </mc:AlternateContent>
      <p:sp>
        <p:nvSpPr>
          <p:cNvPr id="4" name="Slide Number Placeholder 3">
            <a:extLst>
              <a:ext uri="{FF2B5EF4-FFF2-40B4-BE49-F238E27FC236}">
                <a16:creationId xmlns:a16="http://schemas.microsoft.com/office/drawing/2014/main" id="{0C10A7DA-3B1A-3E4B-2DD6-45A72DB7A572}"/>
              </a:ext>
            </a:extLst>
          </p:cNvPr>
          <p:cNvSpPr>
            <a:spLocks noGrp="1"/>
          </p:cNvSpPr>
          <p:nvPr>
            <p:ph type="sldNum" sz="quarter" idx="5"/>
          </p:nvPr>
        </p:nvSpPr>
        <p:spPr/>
        <p:txBody>
          <a:bodyPr/>
          <a:lstStyle/>
          <a:p>
            <a:fld id="{012D953A-EDFF-6F44-AD06-4F45C1322C63}" type="slidenum">
              <a:rPr lang="en-US" smtClean="0"/>
              <a:t>8</a:t>
            </a:fld>
            <a:endParaRPr lang="en-US" dirty="0"/>
          </a:p>
        </p:txBody>
      </p:sp>
    </p:spTree>
    <p:extLst>
      <p:ext uri="{BB962C8B-B14F-4D97-AF65-F5344CB8AC3E}">
        <p14:creationId xmlns:p14="http://schemas.microsoft.com/office/powerpoint/2010/main" val="322497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994BA-EAAA-BDC1-450A-95D349E79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47F6F-97A2-50F0-7F7E-7CA1B8E55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4BADD4-A5CE-874F-FD9A-236DF74EED72}"/>
              </a:ext>
            </a:extLst>
          </p:cNvPr>
          <p:cNvSpPr>
            <a:spLocks noGrp="1"/>
          </p:cNvSpPr>
          <p:nvPr>
            <p:ph type="body" idx="1"/>
          </p:nvPr>
        </p:nvSpPr>
        <p:spPr/>
        <p:txBody>
          <a:bodyPr/>
          <a:lstStyle/>
          <a:p>
            <a:r>
              <a:rPr lang="en-US" dirty="0"/>
              <a:t>This one is a bit embarrassing honestly. We want those bars to drop to zero quickly — they do not. The autocorrelation hangs around well past lag 30, meaning our draws are not as independent as we would like even after thinning. This is a known weakness of Gibbs sampling in hierarchical models and we are acknowledging it as a limitation. </a:t>
            </a:r>
          </a:p>
        </p:txBody>
      </p:sp>
      <p:sp>
        <p:nvSpPr>
          <p:cNvPr id="4" name="Slide Number Placeholder 3">
            <a:extLst>
              <a:ext uri="{FF2B5EF4-FFF2-40B4-BE49-F238E27FC236}">
                <a16:creationId xmlns:a16="http://schemas.microsoft.com/office/drawing/2014/main" id="{71C951D5-51D5-BFB7-825F-5B8A1154F256}"/>
              </a:ext>
            </a:extLst>
          </p:cNvPr>
          <p:cNvSpPr>
            <a:spLocks noGrp="1"/>
          </p:cNvSpPr>
          <p:nvPr>
            <p:ph type="sldNum" sz="quarter" idx="5"/>
          </p:nvPr>
        </p:nvSpPr>
        <p:spPr/>
        <p:txBody>
          <a:bodyPr/>
          <a:lstStyle/>
          <a:p>
            <a:fld id="{012D953A-EDFF-6F44-AD06-4F45C1322C63}" type="slidenum">
              <a:rPr lang="en-US" smtClean="0"/>
              <a:t>9</a:t>
            </a:fld>
            <a:endParaRPr lang="en-US" dirty="0"/>
          </a:p>
        </p:txBody>
      </p:sp>
    </p:spTree>
    <p:extLst>
      <p:ext uri="{BB962C8B-B14F-4D97-AF65-F5344CB8AC3E}">
        <p14:creationId xmlns:p14="http://schemas.microsoft.com/office/powerpoint/2010/main" val="2780206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13746-4A40-FF4D-A5CE-7BE620D52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E3A14-DF51-7E65-4682-E3A84FA6A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24105-E4B6-DD44-DF0E-529ADF0F2BC9}"/>
              </a:ext>
            </a:extLst>
          </p:cNvPr>
          <p:cNvSpPr>
            <a:spLocks noGrp="1"/>
          </p:cNvSpPr>
          <p:nvPr>
            <p:ph type="body" idx="1"/>
          </p:nvPr>
        </p:nvSpPr>
        <p:spPr/>
        <p:txBody>
          <a:bodyPr/>
          <a:lstStyle/>
          <a:p>
            <a:r>
              <a:rPr lang="en-US" dirty="0"/>
              <a:t>So this is the main result. Figure 5 shows the posterior distributions of the Average Predictive Difference for all three outcomes under the ANCOVA model. Remember the APD is the average difference in predicted probability of screening positive between intervention and control households, averaged over all 1,468 households in the sample.</a:t>
            </a:r>
          </a:p>
          <a:p>
            <a:endParaRPr lang="en-US" dirty="0"/>
          </a:p>
          <a:p>
            <a:r>
              <a:rPr lang="en-US" dirty="0"/>
              <a:t>A few things to notice. First, all three posteriors are centered just to the left of zero — so there is a slight tendency toward lower screening-positive probability in the intervention arm, but it is very small. Second, and more importantly, the shaded gold band is our ROPE — the region of practical equivalence between minus 5 and plus 5 percentage points. The posterior probability inside the ROPE is 89% for anxiety, 87% for depression, and 82% for emotional distress. None of these cross the 95% threshold for what we would call strong evidence of a null effect, but all three are well above 50%, meaning the data are substantially more consistent with no meaningful effect than with a practically important one. The red segments at the bottom are the 95% HDIs — all of them straddle zero and sit mostly within the ROPE. The NNT ranges from 30 to 44 households, which is far too large to be actionable for a community-scale intervention. </a:t>
            </a:r>
          </a:p>
          <a:p>
            <a:endParaRPr lang="en-US" dirty="0"/>
          </a:p>
          <a:p>
            <a:r>
              <a:rPr lang="en-US" dirty="0"/>
              <a:t>Bottom line: the Andilaye WASH intervention did not move the needle on women's mental health in any practically meaningful way.</a:t>
            </a:r>
          </a:p>
          <a:p>
            <a:endParaRPr lang="en-US" dirty="0"/>
          </a:p>
        </p:txBody>
      </p:sp>
      <p:sp>
        <p:nvSpPr>
          <p:cNvPr id="4" name="Slide Number Placeholder 3">
            <a:extLst>
              <a:ext uri="{FF2B5EF4-FFF2-40B4-BE49-F238E27FC236}">
                <a16:creationId xmlns:a16="http://schemas.microsoft.com/office/drawing/2014/main" id="{178DA605-247A-D4BF-2181-8AD5BACD4317}"/>
              </a:ext>
            </a:extLst>
          </p:cNvPr>
          <p:cNvSpPr>
            <a:spLocks noGrp="1"/>
          </p:cNvSpPr>
          <p:nvPr>
            <p:ph type="sldNum" sz="quarter" idx="5"/>
          </p:nvPr>
        </p:nvSpPr>
        <p:spPr/>
        <p:txBody>
          <a:bodyPr/>
          <a:lstStyle/>
          <a:p>
            <a:fld id="{012D953A-EDFF-6F44-AD06-4F45C1322C63}" type="slidenum">
              <a:rPr lang="en-US" smtClean="0"/>
              <a:t>10</a:t>
            </a:fld>
            <a:endParaRPr lang="en-US" dirty="0"/>
          </a:p>
        </p:txBody>
      </p:sp>
    </p:spTree>
    <p:extLst>
      <p:ext uri="{BB962C8B-B14F-4D97-AF65-F5344CB8AC3E}">
        <p14:creationId xmlns:p14="http://schemas.microsoft.com/office/powerpoint/2010/main" val="1084708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A9DC5-D3D2-0537-5787-1A5631147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9CCD4-4A75-C331-71DF-E601E0FADA4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B242C61-66C7-678B-C8B8-1C9D71954F30}"/>
                  </a:ext>
                </a:extLst>
              </p:cNvPr>
              <p:cNvSpPr>
                <a:spLocks noGrp="1"/>
              </p:cNvSpPr>
              <p:nvPr>
                <p:ph type="body" idx="1"/>
              </p:nvPr>
            </p:nvSpPr>
            <p:spPr/>
            <p:txBody>
              <a:bodyPr/>
              <a:lstStyle/>
              <a:p>
                <a:r>
                  <a:rPr lang="en-US" dirty="0"/>
                  <a:t>Figure 6 shows the posterior distributions of the between-kebele standard deviation and the implied ICC. This is the second part of our research question — what does the clustering structure look like?</a:t>
                </a:r>
              </a:p>
              <a:p>
                <a:r>
                  <a:rPr lang="en-US" dirty="0"/>
                  <a:t>Figure 6a shows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𝜎</m:t>
                        </m:r>
                      </m:e>
                      <m:sub>
                        <m:r>
                          <m:rPr>
                            <m:nor/>
                          </m:rPr>
                          <a:rPr lang="en-US" sz="1200" b="0" i="1" kern="1200">
                            <a:solidFill>
                              <a:schemeClr val="tx1"/>
                            </a:solidFill>
                            <a:latin typeface="+mn-lt"/>
                            <a:ea typeface="+mn-ea"/>
                            <a:cs typeface="+mn-cs"/>
                          </a:rPr>
                          <m:t>cluster</m:t>
                        </m:r>
                      </m:sub>
                    </m:sSub>
                  </m:oMath>
                </a14:m>
                <a:r>
                  <a:rPr lang="en-US" dirty="0"/>
                  <a:t>for each outcome. All three distributions are right-skewed and concentrated near modest values, with anxiety showing the most heterogeneity and emotional distress the least. But notice how wide these distributions are — the HDIs all extend close to zero, meaning the data are consistent with very little between-kebele clustering at all.</a:t>
                </a:r>
              </a:p>
              <a:p>
                <a:r>
                  <a:rPr lang="en-US" dirty="0"/>
                  <a:t>Figure 6b translates this into ICC, which is arguably more interpretable. The posterior means are 0.030 for anxiety, 0.014 for depression, and 0.011 for emotional distress — all at or below the lower boundary of what the literature reports for mental health outcomes in similar trials. What this tells us is that mental health in this population varies mostly between households, not between communities. Kebele membership does not tell you much about a woman's mental health status. And this is actually one of the key things a Bayesian hierarchical model gives us that GEE cannot — not just a point estimate of clustering, but a full posterior distribution that honestly quantifies how uncertain we are about it.</a:t>
                </a:r>
              </a:p>
              <a:p>
                <a:endParaRPr lang="en-US" dirty="0"/>
              </a:p>
            </p:txBody>
          </p:sp>
        </mc:Choice>
        <mc:Fallback xmlns="">
          <p:sp>
            <p:nvSpPr>
              <p:cNvPr id="3" name="Notes Placeholder 2">
                <a:extLst>
                  <a:ext uri="{FF2B5EF4-FFF2-40B4-BE49-F238E27FC236}">
                    <a16:creationId xmlns:a16="http://schemas.microsoft.com/office/drawing/2014/main" id="{6B242C61-66C7-678B-C8B8-1C9D71954F30}"/>
                  </a:ext>
                </a:extLst>
              </p:cNvPr>
              <p:cNvSpPr>
                <a:spLocks noGrp="1"/>
              </p:cNvSpPr>
              <p:nvPr>
                <p:ph type="body" idx="1"/>
              </p:nvPr>
            </p:nvSpPr>
            <p:spPr/>
            <p:txBody>
              <a:bodyPr/>
              <a:lstStyle/>
              <a:p>
                <a:r>
                  <a:rPr lang="en-US" dirty="0"/>
                  <a:t>Figure 6 shows the posterior distributions of the between-kebele standard deviation and the implied ICC. This is the second part of our research question — what does the clustering structure look like?</a:t>
                </a:r>
              </a:p>
              <a:p>
                <a:r>
                  <a:rPr lang="en-US" dirty="0"/>
                  <a:t>Figure 6a shows </a:t>
                </a:r>
                <a:r>
                  <a:rPr lang="ar-AE" sz="1200" i="0" kern="1200">
                    <a:solidFill>
                      <a:schemeClr val="tx1"/>
                    </a:solidFill>
                    <a:latin typeface="+mn-lt"/>
                    <a:ea typeface="+mn-ea"/>
                    <a:cs typeface="+mn-cs"/>
                  </a:rPr>
                  <a:t>𝜎_</a:t>
                </a:r>
                <a:r>
                  <a:rPr lang="en-US" sz="1200" b="0" i="0" kern="1200">
                    <a:solidFill>
                      <a:schemeClr val="tx1"/>
                    </a:solidFill>
                    <a:latin typeface="+mn-lt"/>
                    <a:ea typeface="+mn-ea"/>
                    <a:cs typeface="+mn-cs"/>
                  </a:rPr>
                  <a:t>"cluster</a:t>
                </a:r>
                <a:r>
                  <a:rPr lang="ar-AE" sz="1200" b="0" i="0" kern="1200">
                    <a:solidFill>
                      <a:schemeClr val="tx1"/>
                    </a:solidFill>
                    <a:latin typeface="+mn-lt"/>
                    <a:ea typeface="+mn-ea"/>
                    <a:cs typeface="+mn-cs"/>
                  </a:rPr>
                  <a:t>" </a:t>
                </a:r>
                <a:r>
                  <a:rPr lang="en-US" dirty="0"/>
                  <a:t>for each outcome. All three distributions are right-skewed and concentrated near modest values, with anxiety showing the most heterogeneity and emotional distress the least. But notice how wide these distributions are — the HDIs all extend close to zero, meaning the data are consistent with very little between-kebele clustering at all.</a:t>
                </a:r>
              </a:p>
              <a:p>
                <a:r>
                  <a:rPr lang="en-US" dirty="0"/>
                  <a:t>Figure 6b translates this into ICC, which is arguably more interpretable. The posterior means are 0.030 for anxiety, 0.014 for depression, and 0.011 for emotional distress — all at or below the lower boundary of what the literature reports for mental health outcomes in similar trials. What this tells us is that mental health in this population varies mostly between households, not between communities. Kebele membership does not tell you much about a woman's mental health status. And this is actually one of the key things a Bayesian hierarchical model gives us that GEE cannot — not just a point estimate of clustering, but a full posterior distribution that honestly quantifies how uncertain we are about it.</a:t>
                </a:r>
              </a:p>
              <a:p>
                <a:endParaRPr lang="en-US" dirty="0"/>
              </a:p>
            </p:txBody>
          </p:sp>
        </mc:Fallback>
      </mc:AlternateContent>
      <p:sp>
        <p:nvSpPr>
          <p:cNvPr id="4" name="Slide Number Placeholder 3">
            <a:extLst>
              <a:ext uri="{FF2B5EF4-FFF2-40B4-BE49-F238E27FC236}">
                <a16:creationId xmlns:a16="http://schemas.microsoft.com/office/drawing/2014/main" id="{41827FB2-5EA5-559F-B6E1-C386FD56E786}"/>
              </a:ext>
            </a:extLst>
          </p:cNvPr>
          <p:cNvSpPr>
            <a:spLocks noGrp="1"/>
          </p:cNvSpPr>
          <p:nvPr>
            <p:ph type="sldNum" sz="quarter" idx="5"/>
          </p:nvPr>
        </p:nvSpPr>
        <p:spPr/>
        <p:txBody>
          <a:bodyPr/>
          <a:lstStyle/>
          <a:p>
            <a:fld id="{012D953A-EDFF-6F44-AD06-4F45C1322C63}" type="slidenum">
              <a:rPr lang="en-US" smtClean="0"/>
              <a:t>12</a:t>
            </a:fld>
            <a:endParaRPr lang="en-US" dirty="0"/>
          </a:p>
        </p:txBody>
      </p:sp>
    </p:spTree>
    <p:extLst>
      <p:ext uri="{BB962C8B-B14F-4D97-AF65-F5344CB8AC3E}">
        <p14:creationId xmlns:p14="http://schemas.microsoft.com/office/powerpoint/2010/main" val="2346577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9FBF2-6E35-1CD5-0938-FFE3FD580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CC25C-9D94-AA94-3036-59A730CEC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F33E3-DC10-A4A2-9EA9-3BD6531F0061}"/>
              </a:ext>
            </a:extLst>
          </p:cNvPr>
          <p:cNvSpPr>
            <a:spLocks noGrp="1"/>
          </p:cNvSpPr>
          <p:nvPr>
            <p:ph type="body" idx="1"/>
          </p:nvPr>
        </p:nvSpPr>
        <p:spPr/>
        <p:txBody>
          <a:bodyPr/>
          <a:lstStyle/>
          <a:p>
            <a:r>
              <a:rPr lang="en-US" dirty="0"/>
              <a:t>1.5 min</a:t>
            </a:r>
          </a:p>
          <a:p>
            <a:r>
              <a:rPr lang="en-US" sz="1200" kern="1200" dirty="0">
                <a:solidFill>
                  <a:schemeClr val="tx1"/>
                </a:solidFill>
                <a:effectLst/>
                <a:latin typeface="+mn-lt"/>
                <a:ea typeface="+mn-ea"/>
                <a:cs typeface="+mn-cs"/>
              </a:rPr>
              <a:t>at </a:t>
            </a:r>
            <a:endParaRPr lang="en-US" dirty="0">
              <a:effectLst/>
            </a:endParaRPr>
          </a:p>
          <a:p>
            <a:r>
              <a:rPr lang="en-US" sz="1200" kern="1200" dirty="0">
                <a:solidFill>
                  <a:schemeClr val="tx1"/>
                </a:solidFill>
                <a:effectLst/>
                <a:latin typeface="+mn-lt"/>
                <a:ea typeface="+mn-ea"/>
                <a:cs typeface="+mn-cs"/>
              </a:rPr>
              <a:t>least one figure</a:t>
            </a:r>
            <a:br>
              <a:rPr lang="en-US" sz="1200" kern="1200" dirty="0">
                <a:solidFill>
                  <a:schemeClr val="tx1"/>
                </a:solidFill>
                <a:effectLst/>
                <a:latin typeface="+mn-lt"/>
                <a:ea typeface="+mn-ea"/>
                <a:cs typeface="+mn-cs"/>
              </a:rPr>
            </a:br>
            <a:endParaRPr lang="en-US" dirty="0">
              <a:effectLst/>
            </a:endParaRPr>
          </a:p>
          <a:p>
            <a:endParaRPr lang="en-US" dirty="0"/>
          </a:p>
        </p:txBody>
      </p:sp>
      <p:sp>
        <p:nvSpPr>
          <p:cNvPr id="4" name="Slide Number Placeholder 3">
            <a:extLst>
              <a:ext uri="{FF2B5EF4-FFF2-40B4-BE49-F238E27FC236}">
                <a16:creationId xmlns:a16="http://schemas.microsoft.com/office/drawing/2014/main" id="{C32E1506-EB87-09B7-5190-A2D83ABBBD65}"/>
              </a:ext>
            </a:extLst>
          </p:cNvPr>
          <p:cNvSpPr>
            <a:spLocks noGrp="1"/>
          </p:cNvSpPr>
          <p:nvPr>
            <p:ph type="sldNum" sz="quarter" idx="5"/>
          </p:nvPr>
        </p:nvSpPr>
        <p:spPr/>
        <p:txBody>
          <a:bodyPr/>
          <a:lstStyle/>
          <a:p>
            <a:fld id="{012D953A-EDFF-6F44-AD06-4F45C1322C63}" type="slidenum">
              <a:rPr lang="en-US" smtClean="0"/>
              <a:t>13</a:t>
            </a:fld>
            <a:endParaRPr lang="en-US" dirty="0"/>
          </a:p>
        </p:txBody>
      </p:sp>
    </p:spTree>
    <p:extLst>
      <p:ext uri="{BB962C8B-B14F-4D97-AF65-F5344CB8AC3E}">
        <p14:creationId xmlns:p14="http://schemas.microsoft.com/office/powerpoint/2010/main" val="1779488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F17AE-829D-BFBD-D255-51C629A8E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ACD5B-7B75-BD1E-B2B1-351C2159C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56126-6ABA-BCC7-368F-2677A6335558}"/>
              </a:ext>
            </a:extLst>
          </p:cNvPr>
          <p:cNvSpPr>
            <a:spLocks noGrp="1"/>
          </p:cNvSpPr>
          <p:nvPr>
            <p:ph type="body" idx="1"/>
          </p:nvPr>
        </p:nvSpPr>
        <p:spPr/>
        <p:txBody>
          <a:bodyPr/>
          <a:lstStyle/>
          <a:p>
            <a:r>
              <a:rPr lang="en-US" dirty="0"/>
              <a:t>So far we have shown you the model, the diagnostics, and the main results. A natural question at this point is: how much should we trust those results? Do they depend on the choices we made along the way — the priors, the model specification, whether we adjust for baseline? That is what this slide addresses.</a:t>
            </a:r>
          </a:p>
          <a:p>
            <a:r>
              <a:rPr lang="en-US" dirty="0"/>
              <a:t>The forest plot shows APD estimates and 95% HDIs across all three model specifications: the weakly informative prior model without baseline adjustment, the informed prior model without baseline adjustment, and our primary ANCOVA model with baseline adjustment and informed priors. A few things jump out immediately. First, all three models tell essentially the same story — small negative APDs, HDIs straddling zero, large majority of posterior mass inside the ROPE across all three outcomes. Second, the ANCOVA model gives slightly tighter intervals as expected from conditioning on baseline, but it does not shift the point estimates meaningfully. Third, the prior choice makes virtually no difference — the weakly informative and informed prior models are nearly indistinguishable in this plot.</a:t>
            </a:r>
          </a:p>
          <a:p>
            <a:r>
              <a:rPr lang="en-US" dirty="0"/>
              <a:t>The LOO comparison confirmed ANCOVA as the preferred model, but as you can see here, that choice was not load-bearing for the conclusion. The answer is in the data, not in our modeling decisions. With that, let me move to the final slide.</a:t>
            </a:r>
          </a:p>
          <a:p>
            <a:endParaRPr lang="en-US" dirty="0"/>
          </a:p>
        </p:txBody>
      </p:sp>
      <p:sp>
        <p:nvSpPr>
          <p:cNvPr id="4" name="Slide Number Placeholder 3">
            <a:extLst>
              <a:ext uri="{FF2B5EF4-FFF2-40B4-BE49-F238E27FC236}">
                <a16:creationId xmlns:a16="http://schemas.microsoft.com/office/drawing/2014/main" id="{90427124-74F9-D84F-91E7-4BC87D3D687A}"/>
              </a:ext>
            </a:extLst>
          </p:cNvPr>
          <p:cNvSpPr>
            <a:spLocks noGrp="1"/>
          </p:cNvSpPr>
          <p:nvPr>
            <p:ph type="sldNum" sz="quarter" idx="5"/>
          </p:nvPr>
        </p:nvSpPr>
        <p:spPr/>
        <p:txBody>
          <a:bodyPr/>
          <a:lstStyle/>
          <a:p>
            <a:fld id="{012D953A-EDFF-6F44-AD06-4F45C1322C63}" type="slidenum">
              <a:rPr lang="en-US" smtClean="0"/>
              <a:t>14</a:t>
            </a:fld>
            <a:endParaRPr lang="en-US" dirty="0"/>
          </a:p>
        </p:txBody>
      </p:sp>
    </p:spTree>
    <p:extLst>
      <p:ext uri="{BB962C8B-B14F-4D97-AF65-F5344CB8AC3E}">
        <p14:creationId xmlns:p14="http://schemas.microsoft.com/office/powerpoint/2010/main" val="2991023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0D0F-5186-949F-E276-33D89B749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A438F-2054-715D-A43E-7C7859C35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DDB28-D5DF-90E7-40F5-E356EC91590A}"/>
              </a:ext>
            </a:extLst>
          </p:cNvPr>
          <p:cNvSpPr>
            <a:spLocks noGrp="1"/>
          </p:cNvSpPr>
          <p:nvPr>
            <p:ph type="body" idx="1"/>
          </p:nvPr>
        </p:nvSpPr>
        <p:spPr/>
        <p:txBody>
          <a:bodyPr/>
          <a:lstStyle/>
          <a:p>
            <a:r>
              <a:rPr lang="en-US" dirty="0"/>
              <a:t>If we had another quarter, three things. First, refit in Stan using </a:t>
            </a:r>
            <a:r>
              <a:rPr lang="en-US" sz="1200" kern="1200" dirty="0">
                <a:solidFill>
                  <a:schemeClr val="tx1"/>
                </a:solidFill>
                <a:latin typeface="+mn-lt"/>
                <a:ea typeface="+mn-ea"/>
                <a:cs typeface="+mn-cs"/>
              </a:rPr>
              <a:t>brms</a:t>
            </a:r>
            <a:r>
              <a:rPr lang="en-US" dirty="0"/>
              <a:t> — this might fix the autocorrelation and mixing issues we saw in the diagnostics essentially for free. Second, extend to a three-level model that properly treats woredas as a random level rather than fixed effects, which would give us a full posterior for woreda-level heterogeneity and better reflect the nested design. Third, fit a varying-slopes model allowing the treatment effect to differ across woredas — given the documented variation in intervention fidelity across sites, it is plausible that the intervention worked better in some woredas than others, and that heterogeneity is currently hidden inside a single beta. All three are natural extensions of exactly what we built here, just one level more complex.</a:t>
            </a:r>
          </a:p>
          <a:p>
            <a:endParaRPr lang="en-US" dirty="0"/>
          </a:p>
        </p:txBody>
      </p:sp>
      <p:sp>
        <p:nvSpPr>
          <p:cNvPr id="4" name="Slide Number Placeholder 3">
            <a:extLst>
              <a:ext uri="{FF2B5EF4-FFF2-40B4-BE49-F238E27FC236}">
                <a16:creationId xmlns:a16="http://schemas.microsoft.com/office/drawing/2014/main" id="{66D91D52-1DA7-1815-8A42-1BC91F45D135}"/>
              </a:ext>
            </a:extLst>
          </p:cNvPr>
          <p:cNvSpPr>
            <a:spLocks noGrp="1"/>
          </p:cNvSpPr>
          <p:nvPr>
            <p:ph type="sldNum" sz="quarter" idx="5"/>
          </p:nvPr>
        </p:nvSpPr>
        <p:spPr/>
        <p:txBody>
          <a:bodyPr/>
          <a:lstStyle/>
          <a:p>
            <a:fld id="{012D953A-EDFF-6F44-AD06-4F45C1322C63}" type="slidenum">
              <a:rPr lang="en-US" smtClean="0"/>
              <a:t>15</a:t>
            </a:fld>
            <a:endParaRPr lang="en-US" dirty="0"/>
          </a:p>
        </p:txBody>
      </p:sp>
    </p:spTree>
    <p:extLst>
      <p:ext uri="{BB962C8B-B14F-4D97-AF65-F5344CB8AC3E}">
        <p14:creationId xmlns:p14="http://schemas.microsoft.com/office/powerpoint/2010/main" val="3767709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D953A-EDFF-6F44-AD06-4F45C1322C63}" type="slidenum">
              <a:rPr lang="en-US" smtClean="0"/>
              <a:t>17</a:t>
            </a:fld>
            <a:endParaRPr lang="en-US" dirty="0"/>
          </a:p>
        </p:txBody>
      </p:sp>
    </p:spTree>
    <p:extLst>
      <p:ext uri="{BB962C8B-B14F-4D97-AF65-F5344CB8AC3E}">
        <p14:creationId xmlns:p14="http://schemas.microsoft.com/office/powerpoint/2010/main" val="1828832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F7D93-EB41-E04E-A79C-13414A1C39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44A745-7948-C24E-948C-CAFDD6F4DC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799F8F-BA30-A346-8CBF-DAAC707DF0BD}"/>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5" name="Footer Placeholder 4">
            <a:extLst>
              <a:ext uri="{FF2B5EF4-FFF2-40B4-BE49-F238E27FC236}">
                <a16:creationId xmlns:a16="http://schemas.microsoft.com/office/drawing/2014/main" id="{7B645164-54DA-3047-AC58-911EB1CF806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486AD7C-F4E3-8D40-9548-4EF6CE3E4294}"/>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4231864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EB96-85F5-7646-9FA7-8FC82259D4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1B4DCE-31E7-1A43-9645-5A7100D46A9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519F7A-992A-754C-A49D-E1EE25A4704B}"/>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5" name="Footer Placeholder 4">
            <a:extLst>
              <a:ext uri="{FF2B5EF4-FFF2-40B4-BE49-F238E27FC236}">
                <a16:creationId xmlns:a16="http://schemas.microsoft.com/office/drawing/2014/main" id="{01F94C81-C367-C445-8F4A-D138160DD97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6AD5DE5-483F-134C-BC86-10FE4935B210}"/>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2563313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DF0C-5E54-0B42-9B97-2AC98EF9C0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C62DD4-BDDE-5947-A485-D59FB4C876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D14C0EE-747C-CD41-AA9F-96E65C471DD2}"/>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5" name="Footer Placeholder 4">
            <a:extLst>
              <a:ext uri="{FF2B5EF4-FFF2-40B4-BE49-F238E27FC236}">
                <a16:creationId xmlns:a16="http://schemas.microsoft.com/office/drawing/2014/main" id="{75A96F57-0532-8343-80B8-29AD69C787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5D4179C-54C1-8B46-9D03-9E46417D6A7A}"/>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106804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B381E-748E-FC43-8022-D44B30DD1F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6E3733-6BB1-5649-A79D-B152A17104A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5CB396-A494-BE49-B9FC-9CE8AF654A8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58508E-E0AD-3748-BE92-1C18878CBEFF}"/>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6" name="Footer Placeholder 5">
            <a:extLst>
              <a:ext uri="{FF2B5EF4-FFF2-40B4-BE49-F238E27FC236}">
                <a16:creationId xmlns:a16="http://schemas.microsoft.com/office/drawing/2014/main" id="{CADB8717-0B0D-214C-9750-E6AEC8BA7F8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8BE275-E6E7-3440-97EE-06C2B3BB3EC2}"/>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204033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56616-8834-CB4E-AFB5-858B50DA79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5ABFFC-5C58-144F-864C-0C5E45DB28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5D88C7E-86DF-6C4E-9F9C-0C91E5CB1E3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916A9D-064E-6840-A697-7A9307BDA3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00C2899-1F3B-FA49-A967-B77474F7AA7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FBF3EE-AC62-3840-8EE5-7B47A38D489B}"/>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8" name="Footer Placeholder 7">
            <a:extLst>
              <a:ext uri="{FF2B5EF4-FFF2-40B4-BE49-F238E27FC236}">
                <a16:creationId xmlns:a16="http://schemas.microsoft.com/office/drawing/2014/main" id="{E04A5F62-19FF-CC43-B292-75551E60203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2961F78-3707-2A4A-905F-F5E32C8A3AA2}"/>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1026004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EA061-6FD7-2347-BF5C-FD538F8BAC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236552-23E0-6044-9EA3-534C71DB7003}"/>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4" name="Footer Placeholder 3">
            <a:extLst>
              <a:ext uri="{FF2B5EF4-FFF2-40B4-BE49-F238E27FC236}">
                <a16:creationId xmlns:a16="http://schemas.microsoft.com/office/drawing/2014/main" id="{BA72161E-53D7-8B4F-9E75-D535DE8122B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0B309D8-E88D-4041-8FFB-BD527367BA54}"/>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84909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BB9DD-82AF-7448-84A1-5186B1C2DDF3}"/>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3" name="Footer Placeholder 2">
            <a:extLst>
              <a:ext uri="{FF2B5EF4-FFF2-40B4-BE49-F238E27FC236}">
                <a16:creationId xmlns:a16="http://schemas.microsoft.com/office/drawing/2014/main" id="{C4CB8334-6855-8F41-8937-551B314DA7C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D0E0DC-039D-3649-8C07-F91501957D18}"/>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1781976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BEDE1-43C0-D748-80ED-FC09F785DD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ED9748-4858-5C4A-AFF6-D123C5C0BE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4297FC-2F05-9F48-B064-3326596B39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5D85357-7A85-C249-A00A-3D138035A4D2}"/>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6" name="Footer Placeholder 5">
            <a:extLst>
              <a:ext uri="{FF2B5EF4-FFF2-40B4-BE49-F238E27FC236}">
                <a16:creationId xmlns:a16="http://schemas.microsoft.com/office/drawing/2014/main" id="{D27DC274-0F5F-9A40-AA84-5DE50A7775C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813485-51D3-9E4E-85B8-C708A7E25611}"/>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281620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B7C57-471C-5D4D-B602-585ECCC14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53919E-5C14-2242-8C7B-2ECCC0A394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053A780-923E-3041-A487-1ED1DD5F4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2464735-97CA-3946-84C0-A5C5633A6ADE}"/>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6" name="Footer Placeholder 5">
            <a:extLst>
              <a:ext uri="{FF2B5EF4-FFF2-40B4-BE49-F238E27FC236}">
                <a16:creationId xmlns:a16="http://schemas.microsoft.com/office/drawing/2014/main" id="{FC1B8B58-FA20-5C4B-9639-4FD88F20697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3609C4B-06E1-6348-BC60-085A6F888DFF}"/>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2299467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B7128-8461-7842-8C59-D0D8E47BF5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987E55-37E2-7742-976A-8D49E3F5E50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99FD0-2410-4A4F-93E1-792500E90CCA}"/>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5" name="Footer Placeholder 4">
            <a:extLst>
              <a:ext uri="{FF2B5EF4-FFF2-40B4-BE49-F238E27FC236}">
                <a16:creationId xmlns:a16="http://schemas.microsoft.com/office/drawing/2014/main" id="{DC984CA5-F603-7D49-B654-06207249B3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117F509-3DDF-0B42-BD20-4D00505EC0A7}"/>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2596425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6DBB90-66B9-D94F-B311-30F2CB0473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6857D7-19CF-284B-A8DB-A31D9F3356C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53329D-F02F-2041-BCE9-D8E36531C68D}"/>
              </a:ext>
            </a:extLst>
          </p:cNvPr>
          <p:cNvSpPr>
            <a:spLocks noGrp="1"/>
          </p:cNvSpPr>
          <p:nvPr>
            <p:ph type="dt" sz="half" idx="10"/>
          </p:nvPr>
        </p:nvSpPr>
        <p:spPr/>
        <p:txBody>
          <a:bodyPr/>
          <a:lstStyle/>
          <a:p>
            <a:fld id="{07C2EB59-771A-0D43-8EA8-A312F5FD9643}" type="datetimeFigureOut">
              <a:rPr lang="en-US" smtClean="0"/>
              <a:t>6/2/2026</a:t>
            </a:fld>
            <a:endParaRPr lang="en-US" dirty="0"/>
          </a:p>
        </p:txBody>
      </p:sp>
      <p:sp>
        <p:nvSpPr>
          <p:cNvPr id="5" name="Footer Placeholder 4">
            <a:extLst>
              <a:ext uri="{FF2B5EF4-FFF2-40B4-BE49-F238E27FC236}">
                <a16:creationId xmlns:a16="http://schemas.microsoft.com/office/drawing/2014/main" id="{1266A1BF-6B8A-9349-94EE-84C67C0850F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2E45F1-D251-484E-A49B-0ABA57455C17}"/>
              </a:ext>
            </a:extLst>
          </p:cNvPr>
          <p:cNvSpPr>
            <a:spLocks noGrp="1"/>
          </p:cNvSpPr>
          <p:nvPr>
            <p:ph type="sldNum" sz="quarter" idx="12"/>
          </p:nvPr>
        </p:nvSpPr>
        <p:spPr/>
        <p:txBody>
          <a:bodyPr/>
          <a:lstStyle/>
          <a:p>
            <a:fld id="{F386CA94-A90C-D142-A14F-E4800E38BED9}" type="slidenum">
              <a:rPr lang="en-US" smtClean="0"/>
              <a:t>‹#›</a:t>
            </a:fld>
            <a:endParaRPr lang="en-US" dirty="0"/>
          </a:p>
        </p:txBody>
      </p:sp>
    </p:spTree>
    <p:extLst>
      <p:ext uri="{BB962C8B-B14F-4D97-AF65-F5344CB8AC3E}">
        <p14:creationId xmlns:p14="http://schemas.microsoft.com/office/powerpoint/2010/main" val="3578267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4B2E83"/>
        </a:solidFill>
        <a:effectLst/>
      </p:bgPr>
    </p:bg>
    <p:spTree>
      <p:nvGrpSpPr>
        <p:cNvPr id="1" name=""/>
        <p:cNvGrpSpPr/>
        <p:nvPr/>
      </p:nvGrpSpPr>
      <p:grpSpPr>
        <a:xfrm>
          <a:off x="0" y="0"/>
          <a:ext cx="0" cy="0"/>
          <a:chOff x="0" y="0"/>
          <a:chExt cx="0" cy="0"/>
        </a:xfrm>
      </p:grpSpPr>
      <p:pic>
        <p:nvPicPr>
          <p:cNvPr id="5" name="Picture 4" descr="UW_W Logo_White.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2075" y="5945855"/>
            <a:ext cx="1564478" cy="923544"/>
          </a:xfrm>
          <a:prstGeom prst="rect">
            <a:avLst/>
          </a:prstGeom>
        </p:spPr>
      </p:pic>
      <p:pic>
        <p:nvPicPr>
          <p:cNvPr id="2" name="Picture 1" descr="Bar_RtAngle_7502_RGB.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4784" y="4006085"/>
            <a:ext cx="3045738" cy="112770"/>
          </a:xfrm>
          <a:prstGeom prst="rect">
            <a:avLst/>
          </a:prstGeom>
        </p:spPr>
      </p:pic>
      <p:sp>
        <p:nvSpPr>
          <p:cNvPr id="3" name="Title 2"/>
          <p:cNvSpPr>
            <a:spLocks noGrp="1"/>
          </p:cNvSpPr>
          <p:nvPr>
            <p:ph type="title" hasCustomPrompt="1"/>
          </p:nvPr>
        </p:nvSpPr>
        <p:spPr>
          <a:xfrm>
            <a:off x="895676" y="1179825"/>
            <a:ext cx="9296400" cy="2641756"/>
          </a:xfrm>
          <a:prstGeom prst="rect">
            <a:avLst/>
          </a:prstGeom>
        </p:spPr>
        <p:txBody>
          <a:bodyPr anchor="b"/>
          <a:lstStyle>
            <a:lvl1pPr algn="l">
              <a:defRPr sz="4167" b="1" i="0">
                <a:solidFill>
                  <a:schemeClr val="tx2"/>
                </a:solidFill>
                <a:latin typeface="Encode Sans Normal Black" charset="0"/>
                <a:ea typeface="Encode Sans Normal Black" charset="0"/>
                <a:cs typeface="Encode Sans Normal Black" charset="0"/>
              </a:defRPr>
            </a:lvl1pPr>
          </a:lstStyle>
          <a:p>
            <a:pPr lvl="0"/>
            <a:r>
              <a:rPr lang="en-US" dirty="0"/>
              <a:t>TITLE HERE</a:t>
            </a:r>
            <a:br>
              <a:rPr lang="en-US" dirty="0"/>
            </a:br>
            <a:r>
              <a:rPr lang="en-US" dirty="0"/>
              <a:t>ENCODE NORMAL</a:t>
            </a:r>
            <a:br>
              <a:rPr lang="en-US" dirty="0"/>
            </a:br>
            <a:r>
              <a:rPr lang="en-US" dirty="0"/>
              <a:t>BLACK, 50 PT. </a:t>
            </a:r>
          </a:p>
        </p:txBody>
      </p:sp>
    </p:spTree>
    <p:extLst>
      <p:ext uri="{BB962C8B-B14F-4D97-AF65-F5344CB8AC3E}">
        <p14:creationId xmlns:p14="http://schemas.microsoft.com/office/powerpoint/2010/main" val="23972500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eader + Content – W">
    <p:spTree>
      <p:nvGrpSpPr>
        <p:cNvPr id="1" name=""/>
        <p:cNvGrpSpPr/>
        <p:nvPr/>
      </p:nvGrpSpPr>
      <p:grpSpPr>
        <a:xfrm>
          <a:off x="0" y="0"/>
          <a:ext cx="0" cy="0"/>
          <a:chOff x="0" y="0"/>
          <a:chExt cx="0" cy="0"/>
        </a:xfrm>
      </p:grpSpPr>
      <p:sp>
        <p:nvSpPr>
          <p:cNvPr id="6" name="Text Placeholder 9"/>
          <p:cNvSpPr>
            <a:spLocks noGrp="1"/>
          </p:cNvSpPr>
          <p:nvPr>
            <p:ph type="body" sz="quarter" idx="11" hasCustomPrompt="1"/>
          </p:nvPr>
        </p:nvSpPr>
        <p:spPr>
          <a:xfrm>
            <a:off x="879073" y="1736726"/>
            <a:ext cx="10928280" cy="4015497"/>
          </a:xfrm>
          <a:prstGeom prst="rect">
            <a:avLst/>
          </a:prstGeom>
        </p:spPr>
        <p:txBody>
          <a:bodyPr/>
          <a:lstStyle>
            <a:lvl1pPr marL="285739" indent="-285739">
              <a:buFont typeface="Lucida Grande"/>
              <a:buChar char="&gt;"/>
              <a:defRPr sz="2000" b="1" i="0" baseline="0">
                <a:solidFill>
                  <a:srgbClr val="4B2E83"/>
                </a:solidFill>
                <a:latin typeface="Open Sans"/>
                <a:cs typeface="Open Sans"/>
              </a:defRPr>
            </a:lvl1pPr>
            <a:lvl2pPr>
              <a:defRPr sz="1667" b="1" i="0" baseline="0">
                <a:solidFill>
                  <a:srgbClr val="4B2E83"/>
                </a:solidFill>
                <a:latin typeface="Open Sans"/>
                <a:cs typeface="Open Sans"/>
              </a:defRPr>
            </a:lvl2pPr>
            <a:lvl3pPr marL="952462" indent="-190492">
              <a:buSzPct val="100000"/>
              <a:buFont typeface="Lucida Grande"/>
              <a:buChar char="&gt;"/>
              <a:defRPr sz="1500" b="1" i="0" baseline="0">
                <a:solidFill>
                  <a:srgbClr val="4B2E83"/>
                </a:solidFill>
                <a:latin typeface="Open Sans"/>
                <a:cs typeface="Open Sans"/>
              </a:defRPr>
            </a:lvl3pPr>
            <a:lvl4pPr>
              <a:defRPr sz="1333" b="1" i="0" baseline="0">
                <a:solidFill>
                  <a:srgbClr val="4B2E83"/>
                </a:solidFill>
                <a:latin typeface="Open Sans"/>
                <a:cs typeface="Open Sans"/>
              </a:defRPr>
            </a:lvl4pPr>
            <a:lvl5pPr marL="1714431" indent="-190492">
              <a:buFont typeface="Lucida Grande"/>
              <a:buChar char="&gt;"/>
              <a:defRPr sz="1167" b="1" i="0" baseline="0">
                <a:solidFill>
                  <a:srgbClr val="4B2E83"/>
                </a:solidFill>
                <a:latin typeface="Open Sans"/>
                <a:cs typeface="Open Sans"/>
              </a:defRPr>
            </a:lvl5pPr>
          </a:lstStyle>
          <a:p>
            <a:pPr lvl="0"/>
            <a:r>
              <a:rPr lang="en-US" dirty="0"/>
              <a:t>Content here (Open Sans Bold, 24 pt.)</a:t>
            </a:r>
          </a:p>
          <a:p>
            <a:pPr lvl="1"/>
            <a:r>
              <a:rPr lang="en-US" dirty="0"/>
              <a:t>Second level (Open Sans Bold, 20)</a:t>
            </a:r>
          </a:p>
          <a:p>
            <a:pPr lvl="2"/>
            <a:r>
              <a:rPr lang="en-US" dirty="0"/>
              <a:t>Third level (Open Sans Bold, 18)</a:t>
            </a:r>
          </a:p>
          <a:p>
            <a:pPr lvl="3"/>
            <a:r>
              <a:rPr lang="en-US" dirty="0"/>
              <a:t>Fourth level (Open Sans Bold, 16)</a:t>
            </a:r>
          </a:p>
          <a:p>
            <a:pPr lvl="4"/>
            <a:r>
              <a:rPr lang="en-US" dirty="0"/>
              <a:t>Fifth level (Open Sans Bold, 14)</a:t>
            </a:r>
          </a:p>
        </p:txBody>
      </p:sp>
      <p:pic>
        <p:nvPicPr>
          <p:cNvPr id="7" name="Picture 6" descr="Bar_RtAngle_7502_RGB.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5633" y="1437805"/>
            <a:ext cx="1810912" cy="67050"/>
          </a:xfrm>
          <a:prstGeom prst="rect">
            <a:avLst/>
          </a:prstGeom>
        </p:spPr>
      </p:pic>
      <p:sp>
        <p:nvSpPr>
          <p:cNvPr id="2" name="Title 1"/>
          <p:cNvSpPr>
            <a:spLocks noGrp="1"/>
          </p:cNvSpPr>
          <p:nvPr>
            <p:ph type="title" hasCustomPrompt="1"/>
          </p:nvPr>
        </p:nvSpPr>
        <p:spPr>
          <a:xfrm>
            <a:off x="895676" y="371511"/>
            <a:ext cx="10911678" cy="991998"/>
          </a:xfrm>
          <a:prstGeom prst="rect">
            <a:avLst/>
          </a:prstGeom>
        </p:spPr>
        <p:txBody>
          <a:bodyPr anchor="b"/>
          <a:lstStyle>
            <a:lvl1pPr algn="l">
              <a:defRPr sz="2500" b="1" i="0">
                <a:latin typeface="Encode Sans Normal Black" charset="0"/>
                <a:ea typeface="Encode Sans Normal Black" charset="0"/>
                <a:cs typeface="Encode Sans Normal Black" charset="0"/>
              </a:defRPr>
            </a:lvl1pPr>
          </a:lstStyle>
          <a:p>
            <a:pPr lvl="0"/>
            <a:r>
              <a:rPr lang="en-US" dirty="0"/>
              <a:t>HEADER HERE </a:t>
            </a:r>
            <a:br>
              <a:rPr lang="en-US" dirty="0"/>
            </a:br>
            <a:r>
              <a:rPr lang="en-US" dirty="0"/>
              <a:t>(ENCODE NORMAL BLACK, 30 PT.)</a:t>
            </a:r>
          </a:p>
        </p:txBody>
      </p:sp>
      <p:pic>
        <p:nvPicPr>
          <p:cNvPr id="11" name="Picture 10" descr="W Logo_Purple_2685_HEX.png">
            <a:extLst>
              <a:ext uri="{FF2B5EF4-FFF2-40B4-BE49-F238E27FC236}">
                <a16:creationId xmlns:a16="http://schemas.microsoft.com/office/drawing/2014/main" id="{42BDCA14-636D-2748-934C-214768D8348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92076" y="6019175"/>
            <a:ext cx="1245781" cy="838826"/>
          </a:xfrm>
          <a:prstGeom prst="rect">
            <a:avLst/>
          </a:prstGeom>
        </p:spPr>
      </p:pic>
    </p:spTree>
    <p:extLst>
      <p:ext uri="{BB962C8B-B14F-4D97-AF65-F5344CB8AC3E}">
        <p14:creationId xmlns:p14="http://schemas.microsoft.com/office/powerpoint/2010/main" val="2145355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FE37C7-FBEE-3246-99F8-3CAF259682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290DB4-3133-BE47-B4C5-7D7D4FF4AB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7C3C8-B5ED-E247-934F-CE3DC06AAE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C2EB59-771A-0D43-8EA8-A312F5FD9643}" type="datetimeFigureOut">
              <a:rPr lang="en-US" smtClean="0"/>
              <a:t>6/2/2026</a:t>
            </a:fld>
            <a:endParaRPr lang="en-US" dirty="0"/>
          </a:p>
        </p:txBody>
      </p:sp>
      <p:sp>
        <p:nvSpPr>
          <p:cNvPr id="5" name="Footer Placeholder 4">
            <a:extLst>
              <a:ext uri="{FF2B5EF4-FFF2-40B4-BE49-F238E27FC236}">
                <a16:creationId xmlns:a16="http://schemas.microsoft.com/office/drawing/2014/main" id="{C72CE3C0-4DFD-8349-8524-100FBF66C7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4D0EFAE-502F-FB47-9EB1-E69D10A2B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86CA94-A90C-D142-A14F-E4800E38BED9}" type="slidenum">
              <a:rPr lang="en-US" smtClean="0"/>
              <a:t>‹#›</a:t>
            </a:fld>
            <a:endParaRPr lang="en-US" dirty="0"/>
          </a:p>
        </p:txBody>
      </p:sp>
    </p:spTree>
    <p:extLst>
      <p:ext uri="{BB962C8B-B14F-4D97-AF65-F5344CB8AC3E}">
        <p14:creationId xmlns:p14="http://schemas.microsoft.com/office/powerpoint/2010/main" val="2539228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D0C0_B275E923.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D0D5_B271F88A.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7FFFD0D6_AE58AA6.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7FFFD0D8_87B726F2.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7FFFD0D9_55634B3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B124-7B17-394A-963F-B23FA67E9852}"/>
              </a:ext>
            </a:extLst>
          </p:cNvPr>
          <p:cNvSpPr>
            <a:spLocks noGrp="1"/>
          </p:cNvSpPr>
          <p:nvPr>
            <p:ph type="title"/>
          </p:nvPr>
        </p:nvSpPr>
        <p:spPr>
          <a:xfrm>
            <a:off x="895676" y="1179824"/>
            <a:ext cx="5634423" cy="2703244"/>
          </a:xfrm>
        </p:spPr>
        <p:txBody>
          <a:bodyPr>
            <a:normAutofit/>
          </a:bodyPr>
          <a:lstStyle/>
          <a:p>
            <a:r>
              <a:rPr lang="en-US" dirty="0"/>
              <a:t>Beyond Failing to Reject: A Bayesian Approach to Evaluating the Andilaye WASH Intervention</a:t>
            </a:r>
            <a:endParaRPr lang="en-US" sz="3600" i="1" dirty="0"/>
          </a:p>
        </p:txBody>
      </p:sp>
      <p:sp>
        <p:nvSpPr>
          <p:cNvPr id="3" name="TextBox 2">
            <a:extLst>
              <a:ext uri="{FF2B5EF4-FFF2-40B4-BE49-F238E27FC236}">
                <a16:creationId xmlns:a16="http://schemas.microsoft.com/office/drawing/2014/main" id="{C5DDE2E7-2B3F-0649-BA5D-4709F01A22BB}"/>
              </a:ext>
            </a:extLst>
          </p:cNvPr>
          <p:cNvSpPr txBox="1"/>
          <p:nvPr/>
        </p:nvSpPr>
        <p:spPr>
          <a:xfrm>
            <a:off x="895676" y="4714207"/>
            <a:ext cx="5200324" cy="923330"/>
          </a:xfrm>
          <a:prstGeom prst="rect">
            <a:avLst/>
          </a:prstGeom>
          <a:noFill/>
        </p:spPr>
        <p:txBody>
          <a:bodyPr wrap="square" rtlCol="0">
            <a:spAutoFit/>
          </a:bodyPr>
          <a:lstStyle/>
          <a:p>
            <a:r>
              <a:rPr lang="en-US" dirty="0">
                <a:solidFill>
                  <a:schemeClr val="tx2"/>
                </a:solidFill>
                <a:latin typeface="Encode Sans Normal" panose="02000000000000000000" pitchFamily="2" charset="77"/>
              </a:rPr>
              <a:t>Yuwei Wang &amp; William Garcia</a:t>
            </a:r>
          </a:p>
          <a:p>
            <a:r>
              <a:rPr lang="en-US" dirty="0">
                <a:solidFill>
                  <a:schemeClr val="tx2"/>
                </a:solidFill>
                <a:latin typeface="Encode Sans Normal" panose="02000000000000000000" pitchFamily="2" charset="77"/>
              </a:rPr>
              <a:t>In-Class Presentation for CSSS 564 Final Project</a:t>
            </a:r>
          </a:p>
          <a:p>
            <a:r>
              <a:rPr lang="en-US" dirty="0">
                <a:solidFill>
                  <a:schemeClr val="tx2"/>
                </a:solidFill>
                <a:latin typeface="Encode Sans Normal" panose="02000000000000000000" pitchFamily="2" charset="77"/>
              </a:rPr>
              <a:t>Jun 3rd, 2026</a:t>
            </a:r>
          </a:p>
        </p:txBody>
      </p:sp>
      <p:sp>
        <p:nvSpPr>
          <p:cNvPr id="5" name="TextBox 4">
            <a:extLst>
              <a:ext uri="{FF2B5EF4-FFF2-40B4-BE49-F238E27FC236}">
                <a16:creationId xmlns:a16="http://schemas.microsoft.com/office/drawing/2014/main" id="{FAE4DA47-C72C-96FF-86E7-FB8D198D0DD6}"/>
              </a:ext>
            </a:extLst>
          </p:cNvPr>
          <p:cNvSpPr txBox="1"/>
          <p:nvPr/>
        </p:nvSpPr>
        <p:spPr>
          <a:xfrm>
            <a:off x="6928779" y="5466594"/>
            <a:ext cx="4230311" cy="276999"/>
          </a:xfrm>
          <a:prstGeom prst="rect">
            <a:avLst/>
          </a:prstGeom>
          <a:noFill/>
        </p:spPr>
        <p:txBody>
          <a:bodyPr wrap="square" rtlCol="0">
            <a:spAutoFit/>
          </a:bodyPr>
          <a:lstStyle/>
          <a:p>
            <a:r>
              <a:rPr lang="en-US" sz="1200" i="1" dirty="0">
                <a:solidFill>
                  <a:schemeClr val="tx2"/>
                </a:solidFill>
                <a:latin typeface="Encode Sans Normal" panose="02000000000000000000" pitchFamily="2" charset="77"/>
              </a:rPr>
              <a:t>Photo shot by Lisa Marie </a:t>
            </a:r>
            <a:r>
              <a:rPr lang="en-US" sz="1200" i="1" dirty="0" err="1">
                <a:solidFill>
                  <a:schemeClr val="tx2"/>
                </a:solidFill>
                <a:latin typeface="Encode Sans Normal" panose="02000000000000000000" pitchFamily="2" charset="77"/>
              </a:rPr>
              <a:t>Theck</a:t>
            </a:r>
            <a:r>
              <a:rPr lang="en-US" sz="1200" i="1" dirty="0">
                <a:solidFill>
                  <a:schemeClr val="tx2"/>
                </a:solidFill>
                <a:latin typeface="Encode Sans Normal" panose="02000000000000000000" pitchFamily="2" charset="77"/>
              </a:rPr>
              <a:t> in Uganda, obtained via </a:t>
            </a:r>
            <a:r>
              <a:rPr lang="en-US" sz="1200" i="1" dirty="0" err="1">
                <a:solidFill>
                  <a:schemeClr val="tx2"/>
                </a:solidFill>
                <a:latin typeface="Encode Sans Normal" panose="02000000000000000000" pitchFamily="2" charset="77"/>
              </a:rPr>
              <a:t>Unsplash</a:t>
            </a:r>
            <a:endParaRPr lang="en-US" sz="1200" i="1" dirty="0">
              <a:solidFill>
                <a:schemeClr val="tx2"/>
              </a:solidFill>
              <a:latin typeface="Encode Sans Normal" panose="02000000000000000000" pitchFamily="2" charset="77"/>
            </a:endParaRPr>
          </a:p>
        </p:txBody>
      </p:sp>
      <p:pic>
        <p:nvPicPr>
          <p:cNvPr id="1028" name="Picture 4" descr="A little girl is playing with a fire hydrant">
            <a:extLst>
              <a:ext uri="{FF2B5EF4-FFF2-40B4-BE49-F238E27FC236}">
                <a16:creationId xmlns:a16="http://schemas.microsoft.com/office/drawing/2014/main" id="{16287184-88D5-EDA1-B8C2-E39236568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8779" y="1534438"/>
            <a:ext cx="4230311" cy="3789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779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4568F12-3B13-E44F-B177-FF99F76CB28D}"/>
              </a:ext>
            </a:extLst>
          </p:cNvPr>
          <p:cNvSpPr/>
          <p:nvPr/>
        </p:nvSpPr>
        <p:spPr>
          <a:xfrm>
            <a:off x="901700" y="1587500"/>
            <a:ext cx="10388600" cy="1505684"/>
          </a:xfrm>
          <a:prstGeom prst="rect">
            <a:avLst/>
          </a:prstGeom>
          <a:solidFill>
            <a:srgbClr val="F7F4E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a:extLst>
              <a:ext uri="{FF2B5EF4-FFF2-40B4-BE49-F238E27FC236}">
                <a16:creationId xmlns:a16="http://schemas.microsoft.com/office/drawing/2014/main" id="{8DCA3A81-821C-684D-B406-7848E41D7EE1}"/>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Background &amp; Research Questions</a:t>
            </a:r>
          </a:p>
        </p:txBody>
      </p:sp>
      <p:sp>
        <p:nvSpPr>
          <p:cNvPr id="3" name="Sub">
            <a:extLst>
              <a:ext uri="{FF2B5EF4-FFF2-40B4-BE49-F238E27FC236}">
                <a16:creationId xmlns:a16="http://schemas.microsoft.com/office/drawing/2014/main" id="{6C2B86F1-2E5E-714F-869A-D661BFFEEF48}"/>
              </a:ext>
            </a:extLst>
          </p:cNvPr>
          <p:cNvSpPr txBox="1"/>
          <p:nvPr/>
        </p:nvSpPr>
        <p:spPr>
          <a:xfrm>
            <a:off x="901700" y="1032979"/>
            <a:ext cx="10655300" cy="406400"/>
          </a:xfrm>
          <a:prstGeom prst="rect">
            <a:avLst/>
          </a:prstGeom>
          <a:noFill/>
        </p:spPr>
        <p:txBody>
          <a:bodyPr vertOverflow="overflow" vert="horz" wrap="square" rtlCol="0" anchor="t">
            <a:noAutofit/>
          </a:bodyPr>
          <a:lstStyle/>
          <a:p>
            <a:pPr algn="l">
              <a:buNone/>
            </a:pPr>
            <a:r>
              <a:rPr lang="en-US" sz="2200" i="1" dirty="0">
                <a:solidFill>
                  <a:srgbClr val="85754D"/>
                </a:solidFill>
              </a:rPr>
              <a:t>Andilaye trial — cluster-RCT, rural Amhara, Ethiopia </a:t>
            </a:r>
            <a:r>
              <a:rPr lang="en-US" sz="2000" i="1" dirty="0">
                <a:solidFill>
                  <a:srgbClr val="85754D"/>
                </a:solidFill>
              </a:rPr>
              <a:t>(Delea et al., 2019; Freeman et al., 2022)</a:t>
            </a:r>
            <a:endParaRPr lang="en-US" sz="2200" i="1" dirty="0">
              <a:solidFill>
                <a:srgbClr val="85754D"/>
              </a:solidFill>
            </a:endParaRPr>
          </a:p>
        </p:txBody>
      </p:sp>
      <p:sp>
        <p:nvSpPr>
          <p:cNvPr id="4" name="Rectangle 3">
            <a:extLst>
              <a:ext uri="{FF2B5EF4-FFF2-40B4-BE49-F238E27FC236}">
                <a16:creationId xmlns:a16="http://schemas.microsoft.com/office/drawing/2014/main" id="{14A01CC2-8205-CF41-9F74-BFFC07BF083F}"/>
              </a:ext>
            </a:extLst>
          </p:cNvPr>
          <p:cNvSpPr/>
          <p:nvPr/>
        </p:nvSpPr>
        <p:spPr>
          <a:xfrm>
            <a:off x="901700" y="3309485"/>
            <a:ext cx="10388600" cy="1143000"/>
          </a:xfrm>
          <a:prstGeom prst="rect">
            <a:avLst/>
          </a:prstGeom>
          <a:solidFill>
            <a:srgbClr val="F4F1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24FCAFFD-6574-AF44-B665-D2336ECB8F1B}"/>
              </a:ext>
            </a:extLst>
          </p:cNvPr>
          <p:cNvSpPr/>
          <p:nvPr/>
        </p:nvSpPr>
        <p:spPr>
          <a:xfrm>
            <a:off x="901700" y="3309485"/>
            <a:ext cx="101600" cy="1143000"/>
          </a:xfrm>
          <a:prstGeom prst="rect">
            <a:avLst/>
          </a:prstGeom>
          <a:solidFill>
            <a:srgbClr val="B7A57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CalloutText">
            <a:extLst>
              <a:ext uri="{FF2B5EF4-FFF2-40B4-BE49-F238E27FC236}">
                <a16:creationId xmlns:a16="http://schemas.microsoft.com/office/drawing/2014/main" id="{986A22C9-CC04-6A4C-B95B-34E6556D393F}"/>
              </a:ext>
            </a:extLst>
          </p:cNvPr>
          <p:cNvSpPr txBox="1"/>
          <p:nvPr/>
        </p:nvSpPr>
        <p:spPr>
          <a:xfrm>
            <a:off x="1206500" y="3398385"/>
            <a:ext cx="9906000" cy="1016000"/>
          </a:xfrm>
          <a:prstGeom prst="rect">
            <a:avLst/>
          </a:prstGeom>
          <a:noFill/>
        </p:spPr>
        <p:txBody>
          <a:bodyPr vertOverflow="overflow" vert="horz" wrap="square" rtlCol="0" anchor="t">
            <a:noAutofit/>
          </a:bodyPr>
          <a:lstStyle/>
          <a:p>
            <a:pPr algn="l">
              <a:buNone/>
            </a:pPr>
            <a:r>
              <a:rPr lang="en-US" sz="2000" b="1" dirty="0">
                <a:solidFill>
                  <a:srgbClr val="85754D"/>
                </a:solidFill>
              </a:rPr>
              <a:t>The gap</a:t>
            </a:r>
          </a:p>
          <a:p>
            <a:pPr>
              <a:lnSpc>
                <a:spcPts val="2200"/>
              </a:lnSpc>
              <a:spcBef>
                <a:spcPts val="200"/>
              </a:spcBef>
            </a:pPr>
            <a:r>
              <a:rPr lang="en-US" sz="1600" dirty="0">
                <a:solidFill>
                  <a:srgbClr val="222222"/>
                </a:solidFill>
              </a:rPr>
              <a:t>GEE (Freeman et al., 2022) and mixed-effects analyses (Yuwei’s prior coursework, 2024) found </a:t>
            </a:r>
            <a:r>
              <a:rPr lang="en-US" sz="1600" b="1" dirty="0">
                <a:solidFill>
                  <a:srgbClr val="222222"/>
                </a:solidFill>
              </a:rPr>
              <a:t>non-significant</a:t>
            </a:r>
            <a:r>
              <a:rPr lang="en-US" sz="1600" dirty="0">
                <a:solidFill>
                  <a:srgbClr val="222222"/>
                </a:solidFill>
              </a:rPr>
              <a:t> effects — but a null p-value can’t separate a truly small effect from an underpowered study. </a:t>
            </a:r>
            <a:r>
              <a:rPr lang="en-US" sz="1600" dirty="0">
                <a:solidFill>
                  <a:srgbClr val="FF0000"/>
                </a:solidFill>
              </a:rPr>
              <a:t>A small effect is also plausible on substantive grounds: a demand-side WASH program is an indirect pathway to mental health.</a:t>
            </a:r>
            <a:endParaRPr lang="en-US" sz="1600" dirty="0">
              <a:solidFill>
                <a:srgbClr val="222222"/>
              </a:solidFill>
            </a:endParaRPr>
          </a:p>
        </p:txBody>
      </p:sp>
      <p:sp>
        <p:nvSpPr>
          <p:cNvPr id="7" name="Rectangle 6">
            <a:extLst>
              <a:ext uri="{FF2B5EF4-FFF2-40B4-BE49-F238E27FC236}">
                <a16:creationId xmlns:a16="http://schemas.microsoft.com/office/drawing/2014/main" id="{F5F81FF7-3C38-7A43-9B86-B17A2F508975}"/>
              </a:ext>
            </a:extLst>
          </p:cNvPr>
          <p:cNvSpPr/>
          <p:nvPr/>
        </p:nvSpPr>
        <p:spPr>
          <a:xfrm>
            <a:off x="901700" y="4668786"/>
            <a:ext cx="5080000" cy="1808214"/>
          </a:xfrm>
          <a:prstGeom prst="rect">
            <a:avLst/>
          </a:prstGeom>
          <a:solidFill>
            <a:srgbClr val="FFFFFF"/>
          </a:solidFill>
          <a:ln w="9525" cap="flat" cmpd="sng" algn="ctr">
            <a:solidFill>
              <a:srgbClr val="DDDDD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9BAAE4AD-1868-484E-85FE-5B3CABFD878E}"/>
              </a:ext>
            </a:extLst>
          </p:cNvPr>
          <p:cNvSpPr/>
          <p:nvPr/>
        </p:nvSpPr>
        <p:spPr>
          <a:xfrm>
            <a:off x="901700" y="4592587"/>
            <a:ext cx="5080000" cy="76200"/>
          </a:xfrm>
          <a:prstGeom prst="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CFB24B82-07A3-4747-A8D6-21AF16363E73}"/>
              </a:ext>
            </a:extLst>
          </p:cNvPr>
          <p:cNvSpPr/>
          <p:nvPr/>
        </p:nvSpPr>
        <p:spPr>
          <a:xfrm>
            <a:off x="1130300" y="4846587"/>
            <a:ext cx="533400" cy="5334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dirty="0">
                <a:solidFill>
                  <a:srgbClr val="FFFFFF"/>
                </a:solidFill>
              </a:rPr>
              <a:t>1</a:t>
            </a:r>
          </a:p>
        </p:txBody>
      </p:sp>
      <p:sp>
        <p:nvSpPr>
          <p:cNvPr id="10" name="RQ1">
            <a:extLst>
              <a:ext uri="{FF2B5EF4-FFF2-40B4-BE49-F238E27FC236}">
                <a16:creationId xmlns:a16="http://schemas.microsoft.com/office/drawing/2014/main" id="{A443BA3A-2AA7-0D4C-9DBA-5FB7612376F0}"/>
              </a:ext>
            </a:extLst>
          </p:cNvPr>
          <p:cNvSpPr txBox="1"/>
          <p:nvPr/>
        </p:nvSpPr>
        <p:spPr>
          <a:xfrm>
            <a:off x="1816100" y="4744452"/>
            <a:ext cx="4013200" cy="1669048"/>
          </a:xfrm>
          <a:prstGeom prst="rect">
            <a:avLst/>
          </a:prstGeom>
          <a:noFill/>
        </p:spPr>
        <p:txBody>
          <a:bodyPr vertOverflow="overflow" vert="horz" wrap="square" rtlCol="0" anchor="t">
            <a:noAutofit/>
          </a:bodyPr>
          <a:lstStyle/>
          <a:p>
            <a:pPr algn="l">
              <a:buNone/>
            </a:pPr>
            <a:r>
              <a:rPr lang="en-US" sz="2000" b="1" dirty="0">
                <a:solidFill>
                  <a:srgbClr val="4B2E83"/>
                </a:solidFill>
              </a:rPr>
              <a:t>Practical equivalence</a:t>
            </a:r>
          </a:p>
          <a:p>
            <a:pPr algn="l">
              <a:lnSpc>
                <a:spcPts val="2000"/>
              </a:lnSpc>
              <a:spcBef>
                <a:spcPts val="400"/>
              </a:spcBef>
              <a:buNone/>
            </a:pPr>
            <a:r>
              <a:rPr lang="en-US" sz="1600" dirty="0">
                <a:solidFill>
                  <a:srgbClr val="222222"/>
                </a:solidFill>
              </a:rPr>
              <a:t>What is the posterior probability that the intervention’s effect falls inside a Region of Practical Equivalence (ROPE) around zero for each outcome?</a:t>
            </a:r>
          </a:p>
        </p:txBody>
      </p:sp>
      <p:sp>
        <p:nvSpPr>
          <p:cNvPr id="11" name="Rectangle 10">
            <a:extLst>
              <a:ext uri="{FF2B5EF4-FFF2-40B4-BE49-F238E27FC236}">
                <a16:creationId xmlns:a16="http://schemas.microsoft.com/office/drawing/2014/main" id="{85C13B4E-EC94-6545-B511-FF77ED722A79}"/>
              </a:ext>
            </a:extLst>
          </p:cNvPr>
          <p:cNvSpPr/>
          <p:nvPr/>
        </p:nvSpPr>
        <p:spPr>
          <a:xfrm>
            <a:off x="6210300" y="4668786"/>
            <a:ext cx="5080000" cy="1808213"/>
          </a:xfrm>
          <a:prstGeom prst="rect">
            <a:avLst/>
          </a:prstGeom>
          <a:solidFill>
            <a:srgbClr val="FFFFFF"/>
          </a:solidFill>
          <a:ln w="9525" cap="flat" cmpd="sng" algn="ctr">
            <a:solidFill>
              <a:srgbClr val="DDDDD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1FEE609F-A8EF-1F44-B53D-3CF7DD5694A9}"/>
              </a:ext>
            </a:extLst>
          </p:cNvPr>
          <p:cNvSpPr/>
          <p:nvPr/>
        </p:nvSpPr>
        <p:spPr>
          <a:xfrm>
            <a:off x="6210300" y="4592587"/>
            <a:ext cx="5080000" cy="76200"/>
          </a:xfrm>
          <a:prstGeom prst="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E540A29D-C292-6F45-9ED3-0470CFE6CDE5}"/>
              </a:ext>
            </a:extLst>
          </p:cNvPr>
          <p:cNvSpPr/>
          <p:nvPr/>
        </p:nvSpPr>
        <p:spPr>
          <a:xfrm>
            <a:off x="6438900" y="4846587"/>
            <a:ext cx="533400" cy="5334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200" b="1">
                <a:solidFill>
                  <a:srgbClr val="FFFFFF"/>
                </a:solidFill>
              </a:rPr>
              <a:t>2</a:t>
            </a:r>
          </a:p>
        </p:txBody>
      </p:sp>
      <p:sp>
        <p:nvSpPr>
          <p:cNvPr id="14" name="RQ2">
            <a:extLst>
              <a:ext uri="{FF2B5EF4-FFF2-40B4-BE49-F238E27FC236}">
                <a16:creationId xmlns:a16="http://schemas.microsoft.com/office/drawing/2014/main" id="{6A9CA209-BC8E-7D4E-BDD2-10FF8FFC7CDB}"/>
              </a:ext>
            </a:extLst>
          </p:cNvPr>
          <p:cNvSpPr txBox="1"/>
          <p:nvPr/>
        </p:nvSpPr>
        <p:spPr>
          <a:xfrm>
            <a:off x="7124700" y="4744452"/>
            <a:ext cx="4013200" cy="1669048"/>
          </a:xfrm>
          <a:prstGeom prst="rect">
            <a:avLst/>
          </a:prstGeom>
          <a:noFill/>
        </p:spPr>
        <p:txBody>
          <a:bodyPr vertOverflow="overflow" vert="horz" wrap="square" rtlCol="0" anchor="t">
            <a:noAutofit/>
          </a:bodyPr>
          <a:lstStyle/>
          <a:p>
            <a:pPr algn="l">
              <a:buNone/>
            </a:pPr>
            <a:r>
              <a:rPr lang="en-US" sz="2000" b="1" dirty="0">
                <a:solidFill>
                  <a:srgbClr val="4B2E83"/>
                </a:solidFill>
              </a:rPr>
              <a:t>Cluster heterogeneity</a:t>
            </a:r>
          </a:p>
          <a:p>
            <a:pPr algn="l">
              <a:lnSpc>
                <a:spcPts val="2000"/>
              </a:lnSpc>
              <a:spcBef>
                <a:spcPts val="400"/>
              </a:spcBef>
              <a:buNone/>
            </a:pPr>
            <a:r>
              <a:rPr lang="en-US" sz="1600" dirty="0">
                <a:solidFill>
                  <a:srgbClr val="222222"/>
                </a:solidFill>
              </a:rPr>
              <a:t>What is the full </a:t>
            </a:r>
            <a:r>
              <a:rPr lang="en-US" sz="1600" b="1" dirty="0">
                <a:solidFill>
                  <a:srgbClr val="222222"/>
                </a:solidFill>
              </a:rPr>
              <a:t>posterior distribution of between-kebele variance</a:t>
            </a:r>
            <a:r>
              <a:rPr lang="en-US" sz="1600" dirty="0">
                <a:solidFill>
                  <a:srgbClr val="222222"/>
                </a:solidFill>
              </a:rPr>
              <a:t>, and what does it imply about clustering in mental-health outcomes across the 50 kebeles?</a:t>
            </a:r>
          </a:p>
        </p:txBody>
      </p:sp>
      <p:sp>
        <p:nvSpPr>
          <p:cNvPr id="18" name="Rectangle 17">
            <a:extLst>
              <a:ext uri="{FF2B5EF4-FFF2-40B4-BE49-F238E27FC236}">
                <a16:creationId xmlns:a16="http://schemas.microsoft.com/office/drawing/2014/main" id="{F2318DDE-9B3A-AE4B-924D-0BE42DA3D5D4}"/>
              </a:ext>
            </a:extLst>
          </p:cNvPr>
          <p:cNvSpPr/>
          <p:nvPr/>
        </p:nvSpPr>
        <p:spPr>
          <a:xfrm>
            <a:off x="901700" y="1587500"/>
            <a:ext cx="101600" cy="1505684"/>
          </a:xfrm>
          <a:prstGeom prst="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InterventionStrip">
            <a:extLst>
              <a:ext uri="{FF2B5EF4-FFF2-40B4-BE49-F238E27FC236}">
                <a16:creationId xmlns:a16="http://schemas.microsoft.com/office/drawing/2014/main" id="{0ECF07AF-AF09-514A-BF25-FF8EB9D8CC9D}"/>
              </a:ext>
            </a:extLst>
          </p:cNvPr>
          <p:cNvSpPr txBox="1"/>
          <p:nvPr/>
        </p:nvSpPr>
        <p:spPr>
          <a:xfrm>
            <a:off x="1206500" y="1676400"/>
            <a:ext cx="9906000" cy="1295802"/>
          </a:xfrm>
          <a:prstGeom prst="rect">
            <a:avLst/>
          </a:prstGeom>
          <a:noFill/>
        </p:spPr>
        <p:txBody>
          <a:bodyPr vertOverflow="overflow" vert="horz" wrap="square" rtlCol="0" anchor="t">
            <a:noAutofit/>
          </a:bodyPr>
          <a:lstStyle/>
          <a:p>
            <a:pPr algn="l">
              <a:buNone/>
            </a:pPr>
            <a:r>
              <a:rPr lang="en-US" sz="2000" b="1" dirty="0">
                <a:solidFill>
                  <a:srgbClr val="4B2E83"/>
                </a:solidFill>
              </a:rPr>
              <a:t>The intervention</a:t>
            </a:r>
          </a:p>
          <a:p>
            <a:pPr algn="l">
              <a:lnSpc>
                <a:spcPts val="2200"/>
              </a:lnSpc>
              <a:spcBef>
                <a:spcPts val="200"/>
              </a:spcBef>
              <a:buNone/>
            </a:pPr>
            <a:r>
              <a:rPr lang="en-US" sz="1600" dirty="0">
                <a:solidFill>
                  <a:srgbClr val="222222"/>
                </a:solidFill>
              </a:rPr>
              <a:t>Demand-side WASH program operating at district, community, group, and household levels community mobilization events, facilitated conversations, and household counseling visits delivered by community change agents to complement Ethiopia’s Health Extension Program.</a:t>
            </a:r>
          </a:p>
        </p:txBody>
      </p:sp>
    </p:spTree>
    <p:extLst>
      <p:ext uri="{BB962C8B-B14F-4D97-AF65-F5344CB8AC3E}">
        <p14:creationId xmlns:p14="http://schemas.microsoft.com/office/powerpoint/2010/main" val="2994071843"/>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DBD4E1B-B215-9949-8228-FCE6D3B71061}"/>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Data &amp; Analytic Sample</a:t>
            </a:r>
          </a:p>
        </p:txBody>
      </p:sp>
      <p:sp>
        <p:nvSpPr>
          <p:cNvPr id="3" name="TextBox 2">
            <a:extLst>
              <a:ext uri="{FF2B5EF4-FFF2-40B4-BE49-F238E27FC236}">
                <a16:creationId xmlns:a16="http://schemas.microsoft.com/office/drawing/2014/main" id="{7A80EA89-50F1-6440-BCE7-01C6CAC268EA}"/>
              </a:ext>
            </a:extLst>
          </p:cNvPr>
          <p:cNvSpPr txBox="1"/>
          <p:nvPr/>
        </p:nvSpPr>
        <p:spPr>
          <a:xfrm>
            <a:off x="901700" y="1041400"/>
            <a:ext cx="10655300" cy="406400"/>
          </a:xfrm>
          <a:prstGeom prst="rect">
            <a:avLst/>
          </a:prstGeom>
          <a:noFill/>
        </p:spPr>
        <p:txBody>
          <a:bodyPr vertOverflow="overflow" vert="horz" wrap="square" rtlCol="0" anchor="t">
            <a:noAutofit/>
          </a:bodyPr>
          <a:lstStyle/>
          <a:p>
            <a:pPr algn="l"/>
            <a:r>
              <a:rPr lang="en-US" sz="2200" i="1" dirty="0">
                <a:solidFill>
                  <a:srgbClr val="85754D"/>
                </a:solidFill>
              </a:rPr>
              <a:t>Endline analytic sample: 1,472 households across 50 kebeles (25 intervention / 25 control)</a:t>
            </a:r>
          </a:p>
        </p:txBody>
      </p:sp>
      <p:sp>
        <p:nvSpPr>
          <p:cNvPr id="4" name="Rectangle 3">
            <a:extLst>
              <a:ext uri="{FF2B5EF4-FFF2-40B4-BE49-F238E27FC236}">
                <a16:creationId xmlns:a16="http://schemas.microsoft.com/office/drawing/2014/main" id="{E9284DAF-E13B-4745-811F-0383FEB8E2EC}"/>
              </a:ext>
            </a:extLst>
          </p:cNvPr>
          <p:cNvSpPr/>
          <p:nvPr/>
        </p:nvSpPr>
        <p:spPr>
          <a:xfrm>
            <a:off x="723900" y="1651000"/>
            <a:ext cx="3429000" cy="1841500"/>
          </a:xfrm>
          <a:prstGeom prst="rect">
            <a:avLst/>
          </a:prstGeom>
          <a:solidFill>
            <a:srgbClr val="F2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DBF05F08-0F9D-C34E-9FB2-2DAB241EC4F7}"/>
              </a:ext>
            </a:extLst>
          </p:cNvPr>
          <p:cNvSpPr/>
          <p:nvPr/>
        </p:nvSpPr>
        <p:spPr>
          <a:xfrm>
            <a:off x="723900" y="1651000"/>
            <a:ext cx="3429000" cy="63500"/>
          </a:xfrm>
          <a:prstGeom prst="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4CF21645-6D14-6A46-B4DE-B718B7CC9491}"/>
              </a:ext>
            </a:extLst>
          </p:cNvPr>
          <p:cNvSpPr txBox="1"/>
          <p:nvPr/>
        </p:nvSpPr>
        <p:spPr>
          <a:xfrm>
            <a:off x="927100" y="1828800"/>
            <a:ext cx="3048000" cy="355600"/>
          </a:xfrm>
          <a:prstGeom prst="rect">
            <a:avLst/>
          </a:prstGeom>
          <a:noFill/>
        </p:spPr>
        <p:txBody>
          <a:bodyPr vertOverflow="overflow" vert="horz" wrap="square" rtlCol="0" anchor="t">
            <a:noAutofit/>
          </a:bodyPr>
          <a:lstStyle/>
          <a:p>
            <a:pPr algn="l"/>
            <a:r>
              <a:rPr lang="en-US" b="1">
                <a:solidFill>
                  <a:srgbClr val="85754D"/>
                </a:solidFill>
              </a:rPr>
              <a:t>Anxiety</a:t>
            </a:r>
          </a:p>
        </p:txBody>
      </p:sp>
      <p:sp>
        <p:nvSpPr>
          <p:cNvPr id="7" name="TextBox 6">
            <a:extLst>
              <a:ext uri="{FF2B5EF4-FFF2-40B4-BE49-F238E27FC236}">
                <a16:creationId xmlns:a16="http://schemas.microsoft.com/office/drawing/2014/main" id="{2591771E-4BAF-2841-B832-EB7412D81C8F}"/>
              </a:ext>
            </a:extLst>
          </p:cNvPr>
          <p:cNvSpPr txBox="1"/>
          <p:nvPr/>
        </p:nvSpPr>
        <p:spPr>
          <a:xfrm>
            <a:off x="927100" y="2159000"/>
            <a:ext cx="3048000" cy="635000"/>
          </a:xfrm>
          <a:prstGeom prst="rect">
            <a:avLst/>
          </a:prstGeom>
          <a:noFill/>
        </p:spPr>
        <p:txBody>
          <a:bodyPr vertOverflow="overflow" vert="horz" wrap="square" rtlCol="0" anchor="t">
            <a:noAutofit/>
          </a:bodyPr>
          <a:lstStyle/>
          <a:p>
            <a:pPr algn="l"/>
            <a:r>
              <a:rPr lang="en-US" sz="3600" b="1">
                <a:solidFill>
                  <a:srgbClr val="4B2E83"/>
                </a:solidFill>
              </a:rPr>
              <a:t>23.5%</a:t>
            </a:r>
          </a:p>
        </p:txBody>
      </p:sp>
      <p:sp>
        <p:nvSpPr>
          <p:cNvPr id="8" name="TextBox 7">
            <a:extLst>
              <a:ext uri="{FF2B5EF4-FFF2-40B4-BE49-F238E27FC236}">
                <a16:creationId xmlns:a16="http://schemas.microsoft.com/office/drawing/2014/main" id="{F04A5A4C-AC40-7646-A8ED-CC2B5D81E4B5}"/>
              </a:ext>
            </a:extLst>
          </p:cNvPr>
          <p:cNvSpPr txBox="1"/>
          <p:nvPr/>
        </p:nvSpPr>
        <p:spPr>
          <a:xfrm>
            <a:off x="927100" y="2819400"/>
            <a:ext cx="3048000" cy="571500"/>
          </a:xfrm>
          <a:prstGeom prst="rect">
            <a:avLst/>
          </a:prstGeom>
          <a:noFill/>
        </p:spPr>
        <p:txBody>
          <a:bodyPr vertOverflow="overflow" vert="horz" wrap="square" rtlCol="0" anchor="t">
            <a:noAutofit/>
          </a:bodyPr>
          <a:lstStyle/>
          <a:p>
            <a:pPr algn="l"/>
            <a:r>
              <a:rPr lang="en-US" sz="1400">
                <a:solidFill>
                  <a:srgbClr val="444444"/>
                </a:solidFill>
              </a:rPr>
              <a:t>(165 intervention / 181 control)</a:t>
            </a:r>
          </a:p>
        </p:txBody>
      </p:sp>
      <p:sp>
        <p:nvSpPr>
          <p:cNvPr id="9" name="Rectangle 8">
            <a:extLst>
              <a:ext uri="{FF2B5EF4-FFF2-40B4-BE49-F238E27FC236}">
                <a16:creationId xmlns:a16="http://schemas.microsoft.com/office/drawing/2014/main" id="{CFF1FD53-DC3D-2946-AED0-2CF0CA91D313}"/>
              </a:ext>
            </a:extLst>
          </p:cNvPr>
          <p:cNvSpPr/>
          <p:nvPr/>
        </p:nvSpPr>
        <p:spPr>
          <a:xfrm>
            <a:off x="4381500" y="1651000"/>
            <a:ext cx="3429000" cy="1841500"/>
          </a:xfrm>
          <a:prstGeom prst="rect">
            <a:avLst/>
          </a:prstGeom>
          <a:solidFill>
            <a:srgbClr val="F2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45DCC5D7-4ABC-2F4B-8B4E-E920784F0785}"/>
              </a:ext>
            </a:extLst>
          </p:cNvPr>
          <p:cNvSpPr/>
          <p:nvPr/>
        </p:nvSpPr>
        <p:spPr>
          <a:xfrm>
            <a:off x="4381500" y="1651000"/>
            <a:ext cx="3429000" cy="63500"/>
          </a:xfrm>
          <a:prstGeom prst="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E027E36B-9BFB-5447-AD96-0C829526AB36}"/>
              </a:ext>
            </a:extLst>
          </p:cNvPr>
          <p:cNvSpPr txBox="1"/>
          <p:nvPr/>
        </p:nvSpPr>
        <p:spPr>
          <a:xfrm>
            <a:off x="4584700" y="1828800"/>
            <a:ext cx="3048000" cy="355600"/>
          </a:xfrm>
          <a:prstGeom prst="rect">
            <a:avLst/>
          </a:prstGeom>
          <a:noFill/>
        </p:spPr>
        <p:txBody>
          <a:bodyPr vertOverflow="overflow" vert="horz" wrap="square" rtlCol="0" anchor="t">
            <a:noAutofit/>
          </a:bodyPr>
          <a:lstStyle/>
          <a:p>
            <a:pPr algn="l"/>
            <a:r>
              <a:rPr lang="en-US" b="1">
                <a:solidFill>
                  <a:srgbClr val="85754D"/>
                </a:solidFill>
              </a:rPr>
              <a:t>Depression</a:t>
            </a:r>
          </a:p>
        </p:txBody>
      </p:sp>
      <p:sp>
        <p:nvSpPr>
          <p:cNvPr id="12" name="TextBox 11">
            <a:extLst>
              <a:ext uri="{FF2B5EF4-FFF2-40B4-BE49-F238E27FC236}">
                <a16:creationId xmlns:a16="http://schemas.microsoft.com/office/drawing/2014/main" id="{AA41970B-C2D0-7C40-B07D-5BF8A23406F1}"/>
              </a:ext>
            </a:extLst>
          </p:cNvPr>
          <p:cNvSpPr txBox="1"/>
          <p:nvPr/>
        </p:nvSpPr>
        <p:spPr>
          <a:xfrm>
            <a:off x="4584700" y="2159000"/>
            <a:ext cx="3048000" cy="635000"/>
          </a:xfrm>
          <a:prstGeom prst="rect">
            <a:avLst/>
          </a:prstGeom>
          <a:noFill/>
        </p:spPr>
        <p:txBody>
          <a:bodyPr vertOverflow="overflow" vert="horz" wrap="square" rtlCol="0" anchor="t">
            <a:noAutofit/>
          </a:bodyPr>
          <a:lstStyle/>
          <a:p>
            <a:pPr algn="l"/>
            <a:r>
              <a:rPr lang="en-US" sz="3600" b="1">
                <a:solidFill>
                  <a:srgbClr val="4B2E83"/>
                </a:solidFill>
              </a:rPr>
              <a:t>15.6%</a:t>
            </a:r>
          </a:p>
        </p:txBody>
      </p:sp>
      <p:sp>
        <p:nvSpPr>
          <p:cNvPr id="13" name="TextBox 12">
            <a:extLst>
              <a:ext uri="{FF2B5EF4-FFF2-40B4-BE49-F238E27FC236}">
                <a16:creationId xmlns:a16="http://schemas.microsoft.com/office/drawing/2014/main" id="{F735952E-813F-874B-ACCF-A0CF62B0958B}"/>
              </a:ext>
            </a:extLst>
          </p:cNvPr>
          <p:cNvSpPr txBox="1"/>
          <p:nvPr/>
        </p:nvSpPr>
        <p:spPr>
          <a:xfrm>
            <a:off x="4584700" y="2819400"/>
            <a:ext cx="3048000" cy="571500"/>
          </a:xfrm>
          <a:prstGeom prst="rect">
            <a:avLst/>
          </a:prstGeom>
          <a:noFill/>
        </p:spPr>
        <p:txBody>
          <a:bodyPr vertOverflow="overflow" vert="horz" wrap="square" rtlCol="0" anchor="t">
            <a:noAutofit/>
          </a:bodyPr>
          <a:lstStyle/>
          <a:p>
            <a:pPr algn="l"/>
            <a:r>
              <a:rPr lang="en-US" sz="1400">
                <a:solidFill>
                  <a:srgbClr val="444444"/>
                </a:solidFill>
              </a:rPr>
              <a:t>(105 intervention / 124 control)</a:t>
            </a:r>
          </a:p>
        </p:txBody>
      </p:sp>
      <p:sp>
        <p:nvSpPr>
          <p:cNvPr id="14" name="Rectangle 13">
            <a:extLst>
              <a:ext uri="{FF2B5EF4-FFF2-40B4-BE49-F238E27FC236}">
                <a16:creationId xmlns:a16="http://schemas.microsoft.com/office/drawing/2014/main" id="{8A3B01D0-9F99-2845-91D8-B6F17FBB0336}"/>
              </a:ext>
            </a:extLst>
          </p:cNvPr>
          <p:cNvSpPr/>
          <p:nvPr/>
        </p:nvSpPr>
        <p:spPr>
          <a:xfrm>
            <a:off x="8039100" y="1651000"/>
            <a:ext cx="3429000" cy="1841500"/>
          </a:xfrm>
          <a:prstGeom prst="rect">
            <a:avLst/>
          </a:prstGeom>
          <a:solidFill>
            <a:srgbClr val="F2F4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BE32DC2B-9DD1-1A44-B213-474F264C660D}"/>
              </a:ext>
            </a:extLst>
          </p:cNvPr>
          <p:cNvSpPr/>
          <p:nvPr/>
        </p:nvSpPr>
        <p:spPr>
          <a:xfrm>
            <a:off x="8039100" y="1651000"/>
            <a:ext cx="3429000" cy="63500"/>
          </a:xfrm>
          <a:prstGeom prst="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9CF95D13-A6F4-9D48-9CAC-E93225418699}"/>
              </a:ext>
            </a:extLst>
          </p:cNvPr>
          <p:cNvSpPr txBox="1"/>
          <p:nvPr/>
        </p:nvSpPr>
        <p:spPr>
          <a:xfrm>
            <a:off x="8242300" y="1828800"/>
            <a:ext cx="3048000" cy="355600"/>
          </a:xfrm>
          <a:prstGeom prst="rect">
            <a:avLst/>
          </a:prstGeom>
          <a:noFill/>
        </p:spPr>
        <p:txBody>
          <a:bodyPr vertOverflow="overflow" vert="horz" wrap="square" rtlCol="0" anchor="t">
            <a:noAutofit/>
          </a:bodyPr>
          <a:lstStyle/>
          <a:p>
            <a:pPr algn="l"/>
            <a:r>
              <a:rPr lang="en-US" b="1">
                <a:solidFill>
                  <a:srgbClr val="85754D"/>
                </a:solidFill>
              </a:rPr>
              <a:t>Emotional distress</a:t>
            </a:r>
          </a:p>
        </p:txBody>
      </p:sp>
      <p:sp>
        <p:nvSpPr>
          <p:cNvPr id="17" name="TextBox 16">
            <a:extLst>
              <a:ext uri="{FF2B5EF4-FFF2-40B4-BE49-F238E27FC236}">
                <a16:creationId xmlns:a16="http://schemas.microsoft.com/office/drawing/2014/main" id="{B9699C7A-B556-8243-838F-F24A655ACE64}"/>
              </a:ext>
            </a:extLst>
          </p:cNvPr>
          <p:cNvSpPr txBox="1"/>
          <p:nvPr/>
        </p:nvSpPr>
        <p:spPr>
          <a:xfrm>
            <a:off x="8242300" y="2159000"/>
            <a:ext cx="3048000" cy="635000"/>
          </a:xfrm>
          <a:prstGeom prst="rect">
            <a:avLst/>
          </a:prstGeom>
          <a:noFill/>
        </p:spPr>
        <p:txBody>
          <a:bodyPr vertOverflow="overflow" vert="horz" wrap="square" rtlCol="0" anchor="t">
            <a:noAutofit/>
          </a:bodyPr>
          <a:lstStyle/>
          <a:p>
            <a:pPr algn="l"/>
            <a:r>
              <a:rPr lang="en-US" sz="3600" b="1">
                <a:solidFill>
                  <a:srgbClr val="4B2E83"/>
                </a:solidFill>
              </a:rPr>
              <a:t>18.5%</a:t>
            </a:r>
          </a:p>
        </p:txBody>
      </p:sp>
      <p:sp>
        <p:nvSpPr>
          <p:cNvPr id="18" name="TextBox 17">
            <a:extLst>
              <a:ext uri="{FF2B5EF4-FFF2-40B4-BE49-F238E27FC236}">
                <a16:creationId xmlns:a16="http://schemas.microsoft.com/office/drawing/2014/main" id="{2A3FF202-96C6-B945-8816-FDACB6A004DE}"/>
              </a:ext>
            </a:extLst>
          </p:cNvPr>
          <p:cNvSpPr txBox="1"/>
          <p:nvPr/>
        </p:nvSpPr>
        <p:spPr>
          <a:xfrm>
            <a:off x="8242300" y="2819400"/>
            <a:ext cx="3048000" cy="571500"/>
          </a:xfrm>
          <a:prstGeom prst="rect">
            <a:avLst/>
          </a:prstGeom>
          <a:noFill/>
        </p:spPr>
        <p:txBody>
          <a:bodyPr vertOverflow="overflow" vert="horz" wrap="square" rtlCol="0" anchor="t">
            <a:noAutofit/>
          </a:bodyPr>
          <a:lstStyle/>
          <a:p>
            <a:pPr algn="l"/>
            <a:r>
              <a:rPr lang="en-US" sz="1400">
                <a:solidFill>
                  <a:srgbClr val="444444"/>
                </a:solidFill>
              </a:rPr>
              <a:t>(124 intervention / 149 control)</a:t>
            </a:r>
          </a:p>
        </p:txBody>
      </p:sp>
      <p:sp>
        <p:nvSpPr>
          <p:cNvPr id="19" name="Rectangle 18">
            <a:extLst>
              <a:ext uri="{FF2B5EF4-FFF2-40B4-BE49-F238E27FC236}">
                <a16:creationId xmlns:a16="http://schemas.microsoft.com/office/drawing/2014/main" id="{9D236A97-A28C-C143-8711-994777D3A69B}"/>
              </a:ext>
            </a:extLst>
          </p:cNvPr>
          <p:cNvSpPr/>
          <p:nvPr/>
        </p:nvSpPr>
        <p:spPr>
          <a:xfrm>
            <a:off x="723900" y="3746500"/>
            <a:ext cx="5397500" cy="2730500"/>
          </a:xfrm>
          <a:prstGeom prst="rect">
            <a:avLst/>
          </a:prstGeom>
          <a:solidFill>
            <a:srgbClr val="FFFFFF"/>
          </a:solidFill>
          <a:ln w="9525" cap="flat" cmpd="sng" algn="ctr">
            <a:solidFill>
              <a:srgbClr val="DDDDD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A4F024A0-90FE-6841-92B0-D908ECC83DB9}"/>
              </a:ext>
            </a:extLst>
          </p:cNvPr>
          <p:cNvSpPr/>
          <p:nvPr/>
        </p:nvSpPr>
        <p:spPr>
          <a:xfrm>
            <a:off x="723900" y="3746500"/>
            <a:ext cx="76200" cy="2730500"/>
          </a:xfrm>
          <a:prstGeom prst="rect">
            <a:avLst/>
          </a:prstGeom>
          <a:solidFill>
            <a:srgbClr val="B7A57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DesignText">
            <a:extLst>
              <a:ext uri="{FF2B5EF4-FFF2-40B4-BE49-F238E27FC236}">
                <a16:creationId xmlns:a16="http://schemas.microsoft.com/office/drawing/2014/main" id="{EFA536BF-0B7C-6848-B7D0-E0751F36B4F5}"/>
              </a:ext>
            </a:extLst>
          </p:cNvPr>
          <p:cNvSpPr txBox="1"/>
          <p:nvPr/>
        </p:nvSpPr>
        <p:spPr>
          <a:xfrm>
            <a:off x="952500" y="3873500"/>
            <a:ext cx="5080000" cy="2540000"/>
          </a:xfrm>
          <a:prstGeom prst="rect">
            <a:avLst/>
          </a:prstGeom>
          <a:noFill/>
        </p:spPr>
        <p:txBody>
          <a:bodyPr vertOverflow="overflow" vert="horz" wrap="square" rtlCol="0" anchor="t">
            <a:noAutofit/>
          </a:bodyPr>
          <a:lstStyle/>
          <a:p>
            <a:pPr>
              <a:buNone/>
            </a:pPr>
            <a:r>
              <a:rPr lang="en-US" sz="2000" b="1" dirty="0">
                <a:solidFill>
                  <a:srgbClr val="85754D"/>
                </a:solidFill>
              </a:rPr>
              <a:t>Design</a:t>
            </a:r>
          </a:p>
          <a:p>
            <a:pPr marL="228600" indent="-228600">
              <a:lnSpc>
                <a:spcPts val="2000"/>
              </a:lnSpc>
              <a:spcBef>
                <a:spcPts val="300"/>
              </a:spcBef>
              <a:buFont typeface="Arial"/>
              <a:buChar char="•"/>
            </a:pPr>
            <a:r>
              <a:rPr lang="en-US" sz="1500" b="1" dirty="0">
                <a:solidFill>
                  <a:srgbClr val="222222"/>
                </a:solidFill>
              </a:rPr>
              <a:t>Trial</a:t>
            </a:r>
            <a:r>
              <a:rPr lang="en-US" sz="1500" dirty="0">
                <a:solidFill>
                  <a:srgbClr val="222222"/>
                </a:solidFill>
              </a:rPr>
              <a:t>: parallel cluster-RCT; 50 kebeles across 3 woredas (Farta, Fogera, Bahir Dar Zuria)</a:t>
            </a:r>
          </a:p>
          <a:p>
            <a:pPr marL="228600" indent="-228600">
              <a:lnSpc>
                <a:spcPts val="2000"/>
              </a:lnSpc>
              <a:spcBef>
                <a:spcPts val="300"/>
              </a:spcBef>
              <a:buFont typeface="Arial"/>
              <a:buChar char="•"/>
            </a:pPr>
            <a:r>
              <a:rPr lang="en-US" sz="1500" b="1" dirty="0">
                <a:solidFill>
                  <a:srgbClr val="222222"/>
                </a:solidFill>
              </a:rPr>
              <a:t>Treatment</a:t>
            </a:r>
            <a:r>
              <a:rPr lang="en-US" sz="1500" dirty="0">
                <a:solidFill>
                  <a:srgbClr val="222222"/>
                </a:solidFill>
              </a:rPr>
              <a:t>: kebele-level random assignment, stratified by woreda</a:t>
            </a:r>
          </a:p>
          <a:p>
            <a:pPr marL="228600" indent="-228600">
              <a:lnSpc>
                <a:spcPts val="2000"/>
              </a:lnSpc>
              <a:spcBef>
                <a:spcPts val="300"/>
              </a:spcBef>
              <a:buFont typeface="Arial"/>
              <a:buChar char="•"/>
            </a:pPr>
            <a:r>
              <a:rPr lang="en-US" sz="1500" b="1" dirty="0">
                <a:solidFill>
                  <a:srgbClr val="222222"/>
                </a:solidFill>
              </a:rPr>
              <a:t>Woreda</a:t>
            </a:r>
            <a:r>
              <a:rPr lang="en-US" sz="1500" dirty="0">
                <a:solidFill>
                  <a:srgbClr val="222222"/>
                </a:solidFill>
              </a:rPr>
              <a:t>: fixed covariate (Farta = reference)</a:t>
            </a:r>
          </a:p>
          <a:p>
            <a:pPr marL="228600" indent="-228600">
              <a:lnSpc>
                <a:spcPts val="2000"/>
              </a:lnSpc>
              <a:spcBef>
                <a:spcPts val="300"/>
              </a:spcBef>
              <a:buFont typeface="Arial"/>
              <a:buChar char="•"/>
            </a:pPr>
            <a:r>
              <a:rPr lang="en-US" sz="1500" b="1" dirty="0">
                <a:solidFill>
                  <a:srgbClr val="222222"/>
                </a:solidFill>
              </a:rPr>
              <a:t>Kebele</a:t>
            </a:r>
            <a:r>
              <a:rPr lang="en-US" sz="1500" dirty="0">
                <a:solidFill>
                  <a:srgbClr val="222222"/>
                </a:solidFill>
              </a:rPr>
              <a:t>: cluster of randomization → random intercepts</a:t>
            </a:r>
          </a:p>
        </p:txBody>
      </p:sp>
      <p:sp>
        <p:nvSpPr>
          <p:cNvPr id="22" name="Rectangle 21">
            <a:extLst>
              <a:ext uri="{FF2B5EF4-FFF2-40B4-BE49-F238E27FC236}">
                <a16:creationId xmlns:a16="http://schemas.microsoft.com/office/drawing/2014/main" id="{04501F85-8AF3-DC49-BD98-4E61564B0777}"/>
              </a:ext>
            </a:extLst>
          </p:cNvPr>
          <p:cNvSpPr/>
          <p:nvPr/>
        </p:nvSpPr>
        <p:spPr>
          <a:xfrm>
            <a:off x="6388100" y="3746500"/>
            <a:ext cx="5080000" cy="2730500"/>
          </a:xfrm>
          <a:prstGeom prst="rect">
            <a:avLst/>
          </a:prstGeom>
          <a:solidFill>
            <a:srgbClr val="FFFFFF"/>
          </a:solidFill>
          <a:ln w="9525" cap="flat" cmpd="sng" algn="ctr">
            <a:solidFill>
              <a:srgbClr val="DDDDD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D345551B-185C-E24D-91EE-C4496D4081DB}"/>
              </a:ext>
            </a:extLst>
          </p:cNvPr>
          <p:cNvSpPr/>
          <p:nvPr/>
        </p:nvSpPr>
        <p:spPr>
          <a:xfrm>
            <a:off x="6388100" y="3746500"/>
            <a:ext cx="76200" cy="2730500"/>
          </a:xfrm>
          <a:prstGeom prst="rect">
            <a:avLst/>
          </a:prstGeom>
          <a:solidFill>
            <a:srgbClr val="B7A57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MeasText">
            <a:extLst>
              <a:ext uri="{FF2B5EF4-FFF2-40B4-BE49-F238E27FC236}">
                <a16:creationId xmlns:a16="http://schemas.microsoft.com/office/drawing/2014/main" id="{9ED58AC5-610E-A440-934B-D905004F930B}"/>
              </a:ext>
            </a:extLst>
          </p:cNvPr>
          <p:cNvSpPr txBox="1"/>
          <p:nvPr/>
        </p:nvSpPr>
        <p:spPr>
          <a:xfrm>
            <a:off x="6616700" y="3873500"/>
            <a:ext cx="4762500" cy="2540000"/>
          </a:xfrm>
          <a:prstGeom prst="rect">
            <a:avLst/>
          </a:prstGeom>
          <a:noFill/>
        </p:spPr>
        <p:txBody>
          <a:bodyPr vertOverflow="overflow" vert="horz" wrap="square" rtlCol="0" anchor="t">
            <a:noAutofit/>
          </a:bodyPr>
          <a:lstStyle/>
          <a:p>
            <a:pPr>
              <a:buNone/>
            </a:pPr>
            <a:r>
              <a:rPr lang="en-US" sz="2000" b="1" dirty="0">
                <a:solidFill>
                  <a:srgbClr val="85754D"/>
                </a:solidFill>
              </a:rPr>
              <a:t>Outcomes &amp; measurement</a:t>
            </a:r>
          </a:p>
          <a:p>
            <a:pPr marL="228600" indent="-228600">
              <a:lnSpc>
                <a:spcPts val="2000"/>
              </a:lnSpc>
              <a:spcBef>
                <a:spcPts val="300"/>
              </a:spcBef>
              <a:buFont typeface="Arial"/>
              <a:buChar char="•"/>
            </a:pPr>
            <a:r>
              <a:rPr lang="en-US" sz="1500" b="1" dirty="0">
                <a:solidFill>
                  <a:srgbClr val="222222"/>
                </a:solidFill>
              </a:rPr>
              <a:t>Instrument</a:t>
            </a:r>
            <a:r>
              <a:rPr lang="en-US" sz="1500" dirty="0">
                <a:solidFill>
                  <a:srgbClr val="222222"/>
                </a:solidFill>
              </a:rPr>
              <a:t>: HSCL adaptation (10 anxiety + 13 depression items, 1-4 scale)</a:t>
            </a:r>
          </a:p>
          <a:p>
            <a:pPr marL="228600" indent="-228600">
              <a:lnSpc>
                <a:spcPts val="2000"/>
              </a:lnSpc>
              <a:spcBef>
                <a:spcPts val="300"/>
              </a:spcBef>
              <a:buFont typeface="Arial"/>
              <a:buChar char="•"/>
            </a:pPr>
            <a:r>
              <a:rPr lang="en-US" sz="1500" b="1" dirty="0">
                <a:solidFill>
                  <a:srgbClr val="222222"/>
                </a:solidFill>
              </a:rPr>
              <a:t>Aggregation</a:t>
            </a:r>
            <a:r>
              <a:rPr lang="en-US" sz="1500" dirty="0">
                <a:solidFill>
                  <a:srgbClr val="222222"/>
                </a:solidFill>
              </a:rPr>
              <a:t>: household-level mean of eligible members; combined distress across all 23 items</a:t>
            </a:r>
          </a:p>
          <a:p>
            <a:pPr marL="228600" indent="-228600">
              <a:lnSpc>
                <a:spcPts val="2000"/>
              </a:lnSpc>
              <a:spcBef>
                <a:spcPts val="300"/>
              </a:spcBef>
              <a:buFont typeface="Arial"/>
              <a:buChar char="•"/>
            </a:pPr>
            <a:r>
              <a:rPr lang="en-US" sz="1500" b="1" dirty="0">
                <a:solidFill>
                  <a:srgbClr val="222222"/>
                </a:solidFill>
              </a:rPr>
              <a:t>Probable case</a:t>
            </a:r>
            <a:r>
              <a:rPr lang="en-US" sz="1500" dirty="0">
                <a:solidFill>
                  <a:srgbClr val="222222"/>
                </a:solidFill>
              </a:rPr>
              <a:t>: mean item score ≥ 1.75 on the 1–4 scale</a:t>
            </a:r>
          </a:p>
          <a:p>
            <a:pPr marL="228600" indent="-228600">
              <a:lnSpc>
                <a:spcPts val="2000"/>
              </a:lnSpc>
              <a:spcBef>
                <a:spcPts val="300"/>
              </a:spcBef>
              <a:buFont typeface="Arial"/>
              <a:buChar char="•"/>
            </a:pPr>
            <a:r>
              <a:rPr lang="en-US" sz="1500" b="1" dirty="0">
                <a:solidFill>
                  <a:srgbClr val="222222"/>
                </a:solidFill>
              </a:rPr>
              <a:t>Missingness</a:t>
            </a:r>
            <a:r>
              <a:rPr lang="en-US" sz="1500" dirty="0">
                <a:solidFill>
                  <a:srgbClr val="222222"/>
                </a:solidFill>
              </a:rPr>
              <a:t>: negligible (0.3%); none after household aggregation</a:t>
            </a:r>
          </a:p>
        </p:txBody>
      </p:sp>
    </p:spTree>
    <p:extLst>
      <p:ext uri="{BB962C8B-B14F-4D97-AF65-F5344CB8AC3E}">
        <p14:creationId xmlns:p14="http://schemas.microsoft.com/office/powerpoint/2010/main" val="314012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22BDD-208B-21F6-5C3F-2C4054949416}"/>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3914C84D-1879-F3A7-161C-54D796610A03}"/>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Model Specification</a:t>
            </a:r>
          </a:p>
        </p:txBody>
      </p:sp>
      <p:sp>
        <p:nvSpPr>
          <p:cNvPr id="7" name="PillPrefix">
            <a:extLst>
              <a:ext uri="{FF2B5EF4-FFF2-40B4-BE49-F238E27FC236}">
                <a16:creationId xmlns:a16="http://schemas.microsoft.com/office/drawing/2014/main" id="{E9C7897C-1CD7-094B-B36C-BCAF52D45DE0}"/>
              </a:ext>
            </a:extLst>
          </p:cNvPr>
          <p:cNvSpPr txBox="1"/>
          <p:nvPr/>
        </p:nvSpPr>
        <p:spPr>
          <a:xfrm>
            <a:off x="901700" y="1270000"/>
            <a:ext cx="2540000" cy="406400"/>
          </a:xfrm>
          <a:prstGeom prst="rect">
            <a:avLst/>
          </a:prstGeom>
          <a:noFill/>
        </p:spPr>
        <p:txBody>
          <a:bodyPr vertOverflow="overflow" vert="horz" wrap="none" rtlCol="0" anchor="ctr" anchorCtr="0">
            <a:noAutofit/>
          </a:bodyPr>
          <a:lstStyle/>
          <a:p>
            <a:pPr algn="l">
              <a:buNone/>
            </a:pPr>
            <a:r>
              <a:rPr lang="en-US" b="1" dirty="0">
                <a:solidFill>
                  <a:srgbClr val="4B2E83"/>
                </a:solidFill>
                <a:latin typeface="Calibri"/>
              </a:rPr>
              <a:t>FIT SEPARATELY FOR</a:t>
            </a:r>
          </a:p>
        </p:txBody>
      </p:sp>
      <p:sp>
        <p:nvSpPr>
          <p:cNvPr id="8" name="Pill_0">
            <a:extLst>
              <a:ext uri="{FF2B5EF4-FFF2-40B4-BE49-F238E27FC236}">
                <a16:creationId xmlns:a16="http://schemas.microsoft.com/office/drawing/2014/main" id="{456655C6-613A-DC41-89B6-38F6FA4812D5}"/>
              </a:ext>
            </a:extLst>
          </p:cNvPr>
          <p:cNvSpPr/>
          <p:nvPr/>
        </p:nvSpPr>
        <p:spPr>
          <a:xfrm>
            <a:off x="3467100" y="1270000"/>
            <a:ext cx="1651000" cy="406400"/>
          </a:xfrm>
          <a:prstGeom prst="roundRect">
            <a:avLst/>
          </a:prstGeom>
          <a:solidFill>
            <a:srgbClr val="7B5B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buNone/>
            </a:pPr>
            <a:r>
              <a:rPr lang="en-US" sz="1600" b="1" dirty="0">
                <a:solidFill>
                  <a:srgbClr val="FFFFFF"/>
                </a:solidFill>
                <a:latin typeface="Calibri"/>
              </a:rPr>
              <a:t>Anxiety</a:t>
            </a:r>
          </a:p>
        </p:txBody>
      </p:sp>
      <p:sp>
        <p:nvSpPr>
          <p:cNvPr id="9" name="Pill_1">
            <a:extLst>
              <a:ext uri="{FF2B5EF4-FFF2-40B4-BE49-F238E27FC236}">
                <a16:creationId xmlns:a16="http://schemas.microsoft.com/office/drawing/2014/main" id="{E44BEF36-AFD8-774F-90B5-2A7774515F2D}"/>
              </a:ext>
            </a:extLst>
          </p:cNvPr>
          <p:cNvSpPr/>
          <p:nvPr/>
        </p:nvSpPr>
        <p:spPr>
          <a:xfrm>
            <a:off x="5270500" y="1270000"/>
            <a:ext cx="1651000" cy="406400"/>
          </a:xfrm>
          <a:prstGeom prst="round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buNone/>
            </a:pPr>
            <a:r>
              <a:rPr lang="en-US" sz="1600" b="1" dirty="0">
                <a:solidFill>
                  <a:srgbClr val="FFFFFF"/>
                </a:solidFill>
                <a:latin typeface="Calibri"/>
              </a:rPr>
              <a:t>Depression</a:t>
            </a:r>
          </a:p>
        </p:txBody>
      </p:sp>
      <p:sp>
        <p:nvSpPr>
          <p:cNvPr id="10" name="Pill_2">
            <a:extLst>
              <a:ext uri="{FF2B5EF4-FFF2-40B4-BE49-F238E27FC236}">
                <a16:creationId xmlns:a16="http://schemas.microsoft.com/office/drawing/2014/main" id="{284FD840-AF7E-9B45-8D35-FDC2D1044655}"/>
              </a:ext>
            </a:extLst>
          </p:cNvPr>
          <p:cNvSpPr/>
          <p:nvPr/>
        </p:nvSpPr>
        <p:spPr>
          <a:xfrm>
            <a:off x="7073900" y="1270000"/>
            <a:ext cx="1651000" cy="406400"/>
          </a:xfrm>
          <a:prstGeom prst="roundRect">
            <a:avLst/>
          </a:prstGeom>
          <a:solidFill>
            <a:srgbClr val="A084C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buNone/>
            </a:pPr>
            <a:r>
              <a:rPr lang="en-US" sz="1600" b="1" dirty="0">
                <a:solidFill>
                  <a:srgbClr val="FFFFFF"/>
                </a:solidFill>
                <a:latin typeface="Calibri"/>
              </a:rPr>
              <a:t>Emotion</a:t>
            </a:r>
          </a:p>
        </p:txBody>
      </p:sp>
      <p:sp>
        <p:nvSpPr>
          <p:cNvPr id="11" name="ModelCard">
            <a:extLst>
              <a:ext uri="{FF2B5EF4-FFF2-40B4-BE49-F238E27FC236}">
                <a16:creationId xmlns:a16="http://schemas.microsoft.com/office/drawing/2014/main" id="{83AAD1E2-CAF4-4441-B9B1-320A97E940E2}"/>
              </a:ext>
            </a:extLst>
          </p:cNvPr>
          <p:cNvSpPr/>
          <p:nvPr/>
        </p:nvSpPr>
        <p:spPr>
          <a:xfrm>
            <a:off x="901700" y="1841500"/>
            <a:ext cx="10655300" cy="1841500"/>
          </a:xfrm>
          <a:prstGeom prst="roundRect">
            <a:avLst/>
          </a:prstGeom>
          <a:solidFill>
            <a:srgbClr val="F5F1FA"/>
          </a:solidFill>
          <a:ln w="12700" cap="flat" cmpd="sng" algn="ctr">
            <a:solidFill>
              <a:srgbClr val="D4C5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ModelLabel">
            <a:extLst>
              <a:ext uri="{FF2B5EF4-FFF2-40B4-BE49-F238E27FC236}">
                <a16:creationId xmlns:a16="http://schemas.microsoft.com/office/drawing/2014/main" id="{78CA92FB-A067-ED44-BA41-E30E4507667E}"/>
              </a:ext>
            </a:extLst>
          </p:cNvPr>
          <p:cNvSpPr txBox="1"/>
          <p:nvPr/>
        </p:nvSpPr>
        <p:spPr>
          <a:xfrm>
            <a:off x="1143000" y="1981200"/>
            <a:ext cx="5930900" cy="369332"/>
          </a:xfrm>
          <a:prstGeom prst="rect">
            <a:avLst/>
          </a:prstGeom>
          <a:noFill/>
        </p:spPr>
        <p:txBody>
          <a:bodyPr vertOverflow="overflow" vert="horz" wrap="square" rtlCol="0" anchor="t">
            <a:spAutoFit/>
          </a:bodyPr>
          <a:lstStyle/>
          <a:p>
            <a:pPr algn="l">
              <a:buNone/>
            </a:pPr>
            <a:r>
              <a:rPr lang="en-US" b="1" dirty="0">
                <a:solidFill>
                  <a:srgbClr val="4B2E83"/>
                </a:solidFill>
                <a:latin typeface="Calibri"/>
              </a:rPr>
              <a:t>BAYESIAN HIERARCHICAL LOGISTIC MODEL</a:t>
            </a:r>
          </a:p>
        </p:txBody>
      </p:sp>
      <mc:AlternateContent xmlns:mc="http://schemas.openxmlformats.org/markup-compatibility/2006" xmlns:a14="http://schemas.microsoft.com/office/drawing/2010/main">
        <mc:Choice Requires="a14">
          <p:sp>
            <p:nvSpPr>
              <p:cNvPr id="13" name="ModelEq">
                <a:extLst>
                  <a:ext uri="{FF2B5EF4-FFF2-40B4-BE49-F238E27FC236}">
                    <a16:creationId xmlns:a16="http://schemas.microsoft.com/office/drawing/2014/main" id="{E05FBBCA-8B2D-934D-8942-51B8660B2057}"/>
                  </a:ext>
                </a:extLst>
              </p:cNvPr>
              <p:cNvSpPr txBox="1"/>
              <p:nvPr/>
            </p:nvSpPr>
            <p:spPr>
              <a:xfrm>
                <a:off x="1143000" y="2286000"/>
                <a:ext cx="10160000" cy="1333500"/>
              </a:xfrm>
              <a:prstGeom prst="rect">
                <a:avLst/>
              </a:prstGeom>
              <a:noFill/>
            </p:spPr>
            <p:txBody>
              <a:bodyPr vertOverflow="overflow" vert="horz" wrap="square" rtlCol="0" anchor="t">
                <a:noAutofit/>
              </a:bodyPr>
              <a:lstStyle/>
              <a:p>
                <a:pPr marL="0" indent="0" algn="ctr">
                  <a:lnSpc>
                    <a:spcPts val="2800"/>
                  </a:lnSpc>
                  <a:spcAft>
                    <a:spcPts val="600"/>
                  </a:spcAft>
                  <a:buNone/>
                </a:pPr>
                <a:r>
                  <a:rPr lang="en-US" sz="2000" dirty="0">
                    <a:solidFill>
                      <a:srgbClr val="1A1A1A"/>
                    </a:solidFill>
                    <a:latin typeface="Cambria Math"/>
                  </a:rPr>
                  <a:t>y</a:t>
                </a:r>
                <a:r>
                  <a:rPr lang="en-US" sz="1400" baseline="-25000" dirty="0">
                    <a:solidFill>
                      <a:srgbClr val="1A1A1A"/>
                    </a:solidFill>
                    <a:latin typeface="Cambria Math"/>
                  </a:rPr>
                  <a:t>i</a:t>
                </a:r>
                <a:r>
                  <a:rPr lang="en-US" sz="2000" dirty="0">
                    <a:solidFill>
                      <a:srgbClr val="1A1A1A"/>
                    </a:solidFill>
                    <a:latin typeface="Cambria Math"/>
                  </a:rPr>
                  <a:t>  ~  Bernoulli(p</a:t>
                </a:r>
                <a:r>
                  <a:rPr lang="en-US" sz="1400" baseline="-25000" dirty="0">
                    <a:solidFill>
                      <a:srgbClr val="1A1A1A"/>
                    </a:solidFill>
                    <a:latin typeface="Cambria Math"/>
                  </a:rPr>
                  <a:t>i</a:t>
                </a:r>
                <a:r>
                  <a:rPr lang="en-US" sz="2000" dirty="0">
                    <a:solidFill>
                      <a:srgbClr val="1A1A1A"/>
                    </a:solidFill>
                    <a:latin typeface="Cambria Math"/>
                  </a:rPr>
                  <a:t>),      logit(p</a:t>
                </a:r>
                <a:r>
                  <a:rPr lang="en-US" sz="1400" baseline="-25000" dirty="0">
                    <a:solidFill>
                      <a:srgbClr val="1A1A1A"/>
                    </a:solidFill>
                    <a:latin typeface="Cambria Math"/>
                  </a:rPr>
                  <a:t>i</a:t>
                </a:r>
                <a:r>
                  <a:rPr lang="en-US" sz="2000" dirty="0">
                    <a:solidFill>
                      <a:srgbClr val="1A1A1A"/>
                    </a:solidFill>
                    <a:latin typeface="Cambria Math"/>
                  </a:rPr>
                  <a:t>) = α</a:t>
                </a:r>
                <a:r>
                  <a:rPr lang="en-US" sz="1400" baseline="-25000" dirty="0">
                    <a:solidFill>
                      <a:srgbClr val="1A1A1A"/>
                    </a:solidFill>
                    <a:latin typeface="Cambria Math"/>
                  </a:rPr>
                  <a:t>j[i]</a:t>
                </a:r>
                <a:r>
                  <a:rPr lang="en-US" sz="2000" dirty="0">
                    <a:solidFill>
                      <a:srgbClr val="1A1A1A"/>
                    </a:solidFill>
                    <a:latin typeface="Cambria Math"/>
                  </a:rPr>
                  <a:t> + β</a:t>
                </a:r>
                <a:r>
                  <a:rPr lang="en-US" sz="1400" baseline="-25000" dirty="0">
                    <a:solidFill>
                      <a:srgbClr val="1A1A1A"/>
                    </a:solidFill>
                    <a:latin typeface="Cambria Math"/>
                  </a:rPr>
                  <a:t>trt</a:t>
                </a:r>
                <a:r>
                  <a:rPr lang="en-US" sz="2000" dirty="0">
                    <a:solidFill>
                      <a:srgbClr val="1A1A1A"/>
                    </a:solidFill>
                    <a:latin typeface="Cambria Math"/>
                  </a:rPr>
                  <a:t> x</a:t>
                </a:r>
                <a:r>
                  <a:rPr lang="en-US" sz="1400" baseline="-25000" dirty="0">
                    <a:solidFill>
                      <a:srgbClr val="1A1A1A"/>
                    </a:solidFill>
                    <a:latin typeface="Cambria Math"/>
                  </a:rPr>
                  <a:t>i</a:t>
                </a:r>
                <a:r>
                  <a:rPr lang="en-US" sz="2000" dirty="0">
                    <a:solidFill>
                      <a:srgbClr val="1A1A1A"/>
                    </a:solidFill>
                    <a:latin typeface="Cambria Math"/>
                  </a:rPr>
                  <a:t> + γ</a:t>
                </a:r>
                <a:r>
                  <a:rPr lang="en-US" sz="1400" baseline="-25000" dirty="0">
                    <a:solidFill>
                      <a:srgbClr val="1A1A1A"/>
                    </a:solidFill>
                    <a:latin typeface="Cambria Math"/>
                  </a:rPr>
                  <a:t>w[</a:t>
                </a:r>
                <a:r>
                  <a:rPr lang="en-US" sz="1400" baseline="-25000" dirty="0" err="1">
                    <a:solidFill>
                      <a:srgbClr val="1A1A1A"/>
                    </a:solidFill>
                    <a:latin typeface="Cambria Math"/>
                  </a:rPr>
                  <a:t>i</a:t>
                </a:r>
                <a:r>
                  <a:rPr lang="en-US" sz="1400" baseline="-25000" dirty="0">
                    <a:solidFill>
                      <a:srgbClr val="1A1A1A"/>
                    </a:solidFill>
                    <a:latin typeface="Cambria Math"/>
                  </a:rPr>
                  <a:t>]</a:t>
                </a:r>
              </a:p>
              <a:p>
                <a:pPr algn="ctr">
                  <a:lnSpc>
                    <a:spcPts val="2800"/>
                  </a:lnSpc>
                  <a:spcAft>
                    <a:spcPts val="6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𝛼</m:t>
                          </m:r>
                        </m:e>
                        <m:sub>
                          <m:r>
                            <a:rPr lang="en-US" sz="2000" i="1">
                              <a:latin typeface="Cambria Math" panose="02040503050406030204" pitchFamily="18" charset="0"/>
                            </a:rPr>
                            <m:t>𝑗</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𝜎</m:t>
                          </m:r>
                        </m:e>
                        <m:sub>
                          <m:r>
                            <a:rPr lang="en-US" sz="2000" i="1">
                              <a:latin typeface="Cambria Math" panose="02040503050406030204" pitchFamily="18" charset="0"/>
                            </a:rPr>
                            <m:t>𝑐𝑙𝑢𝑠𝑡𝑒𝑟</m:t>
                          </m:r>
                        </m:sub>
                      </m:sSub>
                      <m:r>
                        <a:rPr lang="en-US" sz="2000" i="1">
                          <a:latin typeface="Cambria Math" panose="02040503050406030204" pitchFamily="18" charset="0"/>
                        </a:rPr>
                        <m:t>~</m:t>
                      </m:r>
                      <m:r>
                        <a:rPr lang="en-US" sz="2000" i="1">
                          <a:latin typeface="Cambria Math" panose="02040503050406030204" pitchFamily="18" charset="0"/>
                        </a:rPr>
                        <m:t>𝑁𝑜𝑟𝑚𝑎𝑙</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0</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e>
                            <m:sub>
                              <m:r>
                                <a:rPr lang="en-US" sz="2000" i="1">
                                  <a:latin typeface="Cambria Math" panose="02040503050406030204" pitchFamily="18" charset="0"/>
                                </a:rPr>
                                <m:t>𝑐𝑙𝑢𝑠𝑡𝑒𝑟</m:t>
                              </m:r>
                            </m:sub>
                          </m:sSub>
                        </m:e>
                      </m:d>
                      <m:r>
                        <a:rPr lang="en-US" sz="2000" i="1">
                          <a:latin typeface="Cambria Math" panose="02040503050406030204" pitchFamily="18" charset="0"/>
                        </a:rPr>
                        <m:t>, </m:t>
                      </m:r>
                      <m:r>
                        <a:rPr lang="en-US" sz="2000" b="0" i="1" smtClean="0">
                          <a:latin typeface="Cambria Math" panose="02040503050406030204" pitchFamily="18" charset="0"/>
                        </a:rPr>
                        <m:t>  </m:t>
                      </m:r>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rPr>
                        <m:t>1</m:t>
                      </m:r>
                      <m:r>
                        <a:rPr lang="en-US" sz="2000" i="1">
                          <a:latin typeface="Cambria Math" panose="02040503050406030204" pitchFamily="18" charset="0"/>
                        </a:rPr>
                        <m:t>,…, </m:t>
                      </m:r>
                      <m:r>
                        <a:rPr lang="en-US" sz="2000" i="1">
                          <a:latin typeface="Cambria Math" panose="02040503050406030204" pitchFamily="18" charset="0"/>
                        </a:rPr>
                        <m:t>50</m:t>
                      </m:r>
                    </m:oMath>
                  </m:oMathPara>
                </a14:m>
                <a:endParaRPr lang="en-US" sz="2000" baseline="-25000" dirty="0">
                  <a:solidFill>
                    <a:srgbClr val="1A1A1A"/>
                  </a:solidFill>
                  <a:latin typeface="Cambria Math"/>
                </a:endParaRPr>
              </a:p>
              <a:p>
                <a:pPr marL="0" indent="0" algn="ctr">
                  <a:lnSpc>
                    <a:spcPts val="2000"/>
                  </a:lnSpc>
                  <a:buNone/>
                </a:pPr>
                <a:r>
                  <a:rPr lang="en-US" i="1" dirty="0">
                    <a:solidFill>
                      <a:srgbClr val="7B5BA6"/>
                    </a:solidFill>
                    <a:latin typeface="Calibri"/>
                  </a:rPr>
                  <a:t>kebele random intercept (n=50, partial pooling)   ·   treatment log-OR   ·   woreda fixed effect (Farta = ref)</a:t>
                </a:r>
              </a:p>
            </p:txBody>
          </p:sp>
        </mc:Choice>
        <mc:Fallback xmlns="">
          <p:sp>
            <p:nvSpPr>
              <p:cNvPr id="13" name="ModelEq">
                <a:extLst>
                  <a:ext uri="{FF2B5EF4-FFF2-40B4-BE49-F238E27FC236}">
                    <a16:creationId xmlns:a16="http://schemas.microsoft.com/office/drawing/2014/main" id="{E05FBBCA-8B2D-934D-8942-51B8660B2057}"/>
                  </a:ext>
                </a:extLst>
              </p:cNvPr>
              <p:cNvSpPr txBox="1">
                <a:spLocks noRot="1" noChangeAspect="1" noMove="1" noResize="1" noEditPoints="1" noAdjustHandles="1" noChangeArrowheads="1" noChangeShapeType="1" noTextEdit="1"/>
              </p:cNvSpPr>
              <p:nvPr/>
            </p:nvSpPr>
            <p:spPr>
              <a:xfrm>
                <a:off x="1143000" y="2286000"/>
                <a:ext cx="10160000" cy="1333500"/>
              </a:xfrm>
              <a:prstGeom prst="rect">
                <a:avLst/>
              </a:prstGeom>
              <a:blipFill>
                <a:blip r:embed="rId3"/>
                <a:stretch>
                  <a:fillRect t="-943"/>
                </a:stretch>
              </a:blipFill>
            </p:spPr>
            <p:txBody>
              <a:bodyPr/>
              <a:lstStyle/>
              <a:p>
                <a:r>
                  <a:rPr lang="en-US">
                    <a:noFill/>
                  </a:rPr>
                  <a:t> </a:t>
                </a:r>
              </a:p>
            </p:txBody>
          </p:sp>
        </mc:Fallback>
      </mc:AlternateContent>
      <p:sp>
        <p:nvSpPr>
          <p:cNvPr id="14" name="APDCard">
            <a:extLst>
              <a:ext uri="{FF2B5EF4-FFF2-40B4-BE49-F238E27FC236}">
                <a16:creationId xmlns:a16="http://schemas.microsoft.com/office/drawing/2014/main" id="{615265E9-3C4E-FF43-853D-E9ED3F6E1772}"/>
              </a:ext>
            </a:extLst>
          </p:cNvPr>
          <p:cNvSpPr/>
          <p:nvPr/>
        </p:nvSpPr>
        <p:spPr>
          <a:xfrm>
            <a:off x="901700" y="3873500"/>
            <a:ext cx="10655300" cy="2540000"/>
          </a:xfrm>
          <a:prstGeom prst="roundRect">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APDInner">
            <a:extLst>
              <a:ext uri="{FF2B5EF4-FFF2-40B4-BE49-F238E27FC236}">
                <a16:creationId xmlns:a16="http://schemas.microsoft.com/office/drawing/2014/main" id="{B490C13D-CA1B-F943-BD40-BC16DF53947C}"/>
              </a:ext>
            </a:extLst>
          </p:cNvPr>
          <p:cNvSpPr/>
          <p:nvPr/>
        </p:nvSpPr>
        <p:spPr>
          <a:xfrm>
            <a:off x="1143000" y="4508500"/>
            <a:ext cx="10172700" cy="1714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APDLabel">
            <a:extLst>
              <a:ext uri="{FF2B5EF4-FFF2-40B4-BE49-F238E27FC236}">
                <a16:creationId xmlns:a16="http://schemas.microsoft.com/office/drawing/2014/main" id="{928B2D75-0308-2543-8672-6E71FBA4F9D2}"/>
              </a:ext>
            </a:extLst>
          </p:cNvPr>
          <p:cNvSpPr txBox="1"/>
          <p:nvPr/>
        </p:nvSpPr>
        <p:spPr>
          <a:xfrm>
            <a:off x="1143000" y="4038600"/>
            <a:ext cx="10160000" cy="355600"/>
          </a:xfrm>
          <a:prstGeom prst="rect">
            <a:avLst/>
          </a:prstGeom>
          <a:noFill/>
        </p:spPr>
        <p:txBody>
          <a:bodyPr vertOverflow="overflow" vert="horz" wrap="none" rtlCol="0" anchor="t">
            <a:noAutofit/>
          </a:bodyPr>
          <a:lstStyle/>
          <a:p>
            <a:pPr algn="l">
              <a:buNone/>
            </a:pPr>
            <a:r>
              <a:rPr lang="en-US" b="1" dirty="0">
                <a:solidFill>
                  <a:srgbClr val="C9B6E8"/>
                </a:solidFill>
                <a:latin typeface="Calibri"/>
              </a:rPr>
              <a:t>PRIMARY ESTIMAND OF INTEREST   ·   </a:t>
            </a:r>
            <a:r>
              <a:rPr lang="en-US" b="1" dirty="0">
                <a:solidFill>
                  <a:srgbClr val="FFFFFF"/>
                </a:solidFill>
                <a:latin typeface="Calibri"/>
              </a:rPr>
              <a:t>Average Predictive Difference (APD)</a:t>
            </a:r>
          </a:p>
        </p:txBody>
      </p:sp>
      <p:sp>
        <p:nvSpPr>
          <p:cNvPr id="17" name="APDEq">
            <a:extLst>
              <a:ext uri="{FF2B5EF4-FFF2-40B4-BE49-F238E27FC236}">
                <a16:creationId xmlns:a16="http://schemas.microsoft.com/office/drawing/2014/main" id="{142506F9-EC4C-4D46-B061-1A2CF6F55FDF}"/>
              </a:ext>
            </a:extLst>
          </p:cNvPr>
          <p:cNvSpPr txBox="1"/>
          <p:nvPr/>
        </p:nvSpPr>
        <p:spPr>
          <a:xfrm>
            <a:off x="1333500" y="4699000"/>
            <a:ext cx="9779000" cy="1397000"/>
          </a:xfrm>
          <a:prstGeom prst="rect">
            <a:avLst/>
          </a:prstGeom>
          <a:noFill/>
        </p:spPr>
        <p:txBody>
          <a:bodyPr vertOverflow="overflow" vert="horz" wrap="square" rtlCol="0" anchor="t">
            <a:noAutofit/>
          </a:bodyPr>
          <a:lstStyle/>
          <a:p>
            <a:pPr marL="0" indent="0" algn="ctr">
              <a:lnSpc>
                <a:spcPts val="3200"/>
              </a:lnSpc>
              <a:spcAft>
                <a:spcPts val="400"/>
              </a:spcAft>
              <a:buNone/>
            </a:pPr>
            <a:r>
              <a:rPr lang="en-US" sz="2000" dirty="0">
                <a:solidFill>
                  <a:srgbClr val="1A1A1A"/>
                </a:solidFill>
                <a:latin typeface="Cambria Math"/>
              </a:rPr>
              <a:t>APD = 𝔼</a:t>
            </a:r>
            <a:r>
              <a:rPr lang="en-US" sz="1400" baseline="-25000" dirty="0">
                <a:solidFill>
                  <a:srgbClr val="1A1A1A"/>
                </a:solidFill>
                <a:latin typeface="Cambria Math"/>
              </a:rPr>
              <a:t>i</a:t>
            </a:r>
            <a:r>
              <a:rPr lang="en-US" sz="2000" dirty="0">
                <a:solidFill>
                  <a:srgbClr val="1A1A1A"/>
                </a:solidFill>
                <a:latin typeface="Cambria Math"/>
              </a:rPr>
              <a:t> [ Pr(y</a:t>
            </a:r>
            <a:r>
              <a:rPr lang="en-US" sz="1400" baseline="-25000" dirty="0">
                <a:solidFill>
                  <a:srgbClr val="1A1A1A"/>
                </a:solidFill>
                <a:latin typeface="Cambria Math"/>
              </a:rPr>
              <a:t>i</a:t>
            </a:r>
            <a:r>
              <a:rPr lang="en-US" sz="2000" dirty="0">
                <a:solidFill>
                  <a:srgbClr val="1A1A1A"/>
                </a:solidFill>
                <a:latin typeface="Cambria Math"/>
              </a:rPr>
              <a:t>=1 | trt=1) − Pr(y</a:t>
            </a:r>
            <a:r>
              <a:rPr lang="en-US" sz="1400" baseline="-25000" dirty="0">
                <a:solidFill>
                  <a:srgbClr val="1A1A1A"/>
                </a:solidFill>
                <a:latin typeface="Cambria Math"/>
              </a:rPr>
              <a:t>i</a:t>
            </a:r>
            <a:r>
              <a:rPr lang="en-US" sz="2000" dirty="0">
                <a:solidFill>
                  <a:srgbClr val="1A1A1A"/>
                </a:solidFill>
                <a:latin typeface="Cambria Math"/>
              </a:rPr>
              <a:t>=1 | trt=0) ]</a:t>
            </a:r>
          </a:p>
          <a:p>
            <a:pPr marL="0" indent="0" algn="ctr">
              <a:lnSpc>
                <a:spcPts val="1800"/>
              </a:lnSpc>
              <a:buNone/>
            </a:pPr>
            <a:endParaRPr lang="en-US" i="1" dirty="0">
              <a:solidFill>
                <a:srgbClr val="7B5BA6"/>
              </a:solidFill>
              <a:latin typeface="Calibri"/>
            </a:endParaRPr>
          </a:p>
          <a:p>
            <a:pPr marL="0" indent="0" algn="ctr">
              <a:lnSpc>
                <a:spcPts val="1800"/>
              </a:lnSpc>
              <a:buNone/>
            </a:pPr>
            <a:r>
              <a:rPr lang="en-US" i="1" dirty="0">
                <a:solidFill>
                  <a:srgbClr val="7B5BA6"/>
                </a:solidFill>
                <a:latin typeface="Calibri"/>
              </a:rPr>
              <a:t>Average difference in predicted caseness probability, integrating over full posterior uncertainty</a:t>
            </a:r>
          </a:p>
          <a:p>
            <a:pPr marL="0" indent="0" algn="ctr">
              <a:lnSpc>
                <a:spcPts val="1700"/>
              </a:lnSpc>
              <a:spcBef>
                <a:spcPts val="300"/>
              </a:spcBef>
              <a:buNone/>
            </a:pPr>
            <a:r>
              <a:rPr lang="en-US" dirty="0">
                <a:solidFill>
                  <a:srgbClr val="4B2E83"/>
                </a:solidFill>
                <a:latin typeface="Calibri"/>
              </a:rPr>
              <a:t>Reported: posterior mean · 95% HDI · P(|APD| &lt; 0.05) · NNT = 1/|APD|</a:t>
            </a:r>
          </a:p>
        </p:txBody>
      </p:sp>
    </p:spTree>
    <p:extLst>
      <p:ext uri="{BB962C8B-B14F-4D97-AF65-F5344CB8AC3E}">
        <p14:creationId xmlns:p14="http://schemas.microsoft.com/office/powerpoint/2010/main" val="1386045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EE6FC-9E76-7A70-587D-458C5BC0AA32}"/>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2A9E1F4E-9B54-EBD0-8E4B-904040C779BD}"/>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Priors and Prior-Predictive Checks</a:t>
            </a:r>
          </a:p>
        </p:txBody>
      </p:sp>
      <p:sp>
        <p:nvSpPr>
          <p:cNvPr id="15" name="TextBox 14">
            <a:extLst>
              <a:ext uri="{FF2B5EF4-FFF2-40B4-BE49-F238E27FC236}">
                <a16:creationId xmlns:a16="http://schemas.microsoft.com/office/drawing/2014/main" id="{80C85A50-283D-2140-BEC4-554D056793A1}"/>
              </a:ext>
            </a:extLst>
          </p:cNvPr>
          <p:cNvSpPr txBox="1"/>
          <p:nvPr/>
        </p:nvSpPr>
        <p:spPr>
          <a:xfrm>
            <a:off x="635000" y="1206500"/>
            <a:ext cx="5334000" cy="355600"/>
          </a:xfrm>
          <a:prstGeom prst="rect">
            <a:avLst/>
          </a:prstGeom>
          <a:noFill/>
        </p:spPr>
        <p:txBody>
          <a:bodyPr vertOverflow="overflow" vert="horz" wrap="square" rtlCol="0" anchor="t">
            <a:spAutoFit/>
          </a:bodyPr>
          <a:lstStyle/>
          <a:p>
            <a:pPr algn="l"/>
            <a:r>
              <a:rPr lang="en-US" sz="2200" b="1">
                <a:solidFill>
                  <a:srgbClr val="4B2E83"/>
                </a:solidFill>
              </a:rPr>
              <a:t>Prior choices</a:t>
            </a:r>
          </a:p>
        </p:txBody>
      </p:sp>
      <mc:AlternateContent xmlns:mc="http://schemas.openxmlformats.org/markup-compatibility/2006">
        <mc:Choice xmlns:a14="http://schemas.microsoft.com/office/drawing/2010/main" Requires="a14">
          <p:graphicFrame>
            <p:nvGraphicFramePr>
              <p:cNvPr id="20" name="Table 19">
                <a:extLst>
                  <a:ext uri="{FF2B5EF4-FFF2-40B4-BE49-F238E27FC236}">
                    <a16:creationId xmlns:a16="http://schemas.microsoft.com/office/drawing/2014/main" id="{38995C85-A6F7-8D47-A7E5-32EDA000E8D6}"/>
                  </a:ext>
                </a:extLst>
              </p:cNvPr>
              <p:cNvGraphicFramePr>
                <a:graphicFrameLocks noGrp="1"/>
              </p:cNvGraphicFramePr>
              <p:nvPr>
                <p:extLst>
                  <p:ext uri="{D42A27DB-BD31-4B8C-83A1-F6EECF244321}">
                    <p14:modId xmlns:p14="http://schemas.microsoft.com/office/powerpoint/2010/main" val="2899828817"/>
                  </p:ext>
                </p:extLst>
              </p:nvPr>
            </p:nvGraphicFramePr>
            <p:xfrm>
              <a:off x="622300" y="2088465"/>
              <a:ext cx="4311754" cy="4186170"/>
            </p:xfrm>
            <a:graphic>
              <a:graphicData uri="http://schemas.openxmlformats.org/drawingml/2006/table">
                <a:tbl>
                  <a:tblPr firstRow="1" bandRow="1">
                    <a:tableStyleId>{5C22544A-7EE6-4342-B048-85BDC9FD1C3A}</a:tableStyleId>
                  </a:tblPr>
                  <a:tblGrid>
                    <a:gridCol w="1673485">
                      <a:extLst>
                        <a:ext uri="{9D8B030D-6E8A-4147-A177-3AD203B41FA5}">
                          <a16:colId xmlns:a16="http://schemas.microsoft.com/office/drawing/2014/main" val="1990632518"/>
                        </a:ext>
                      </a:extLst>
                    </a:gridCol>
                    <a:gridCol w="2638269">
                      <a:extLst>
                        <a:ext uri="{9D8B030D-6E8A-4147-A177-3AD203B41FA5}">
                          <a16:colId xmlns:a16="http://schemas.microsoft.com/office/drawing/2014/main" val="900457230"/>
                        </a:ext>
                      </a:extLst>
                    </a:gridCol>
                  </a:tblGrid>
                  <a:tr h="631135">
                    <a:tc>
                      <a:txBody>
                        <a:bodyPr/>
                        <a:lstStyle/>
                        <a:p>
                          <a:pPr algn="ctr"/>
                          <a:r>
                            <a:rPr lang="en-US" sz="2200" b="1" dirty="0">
                              <a:solidFill>
                                <a:srgbClr val="FFFFFF"/>
                              </a:solidFill>
                            </a:rPr>
                            <a:t>Parameter</a:t>
                          </a:r>
                        </a:p>
                      </a:txBody>
                      <a:tcPr anchor="ctr">
                        <a:solidFill>
                          <a:srgbClr val="4B2E83"/>
                        </a:solidFill>
                      </a:tcPr>
                    </a:tc>
                    <a:tc>
                      <a:txBody>
                        <a:bodyPr/>
                        <a:lstStyle/>
                        <a:p>
                          <a:pPr algn="ctr"/>
                          <a:r>
                            <a:rPr lang="en-US" sz="2200" b="1" dirty="0">
                              <a:solidFill>
                                <a:srgbClr val="FFFFFF"/>
                              </a:solidFill>
                            </a:rPr>
                            <a:t>Prior</a:t>
                          </a:r>
                        </a:p>
                      </a:txBody>
                      <a:tcPr anchor="ctr">
                        <a:solidFill>
                          <a:srgbClr val="4B2E83"/>
                        </a:solidFill>
                      </a:tcPr>
                    </a:tc>
                    <a:extLst>
                      <a:ext uri="{0D108BD9-81ED-4DB2-BD59-A6C34878D82A}">
                        <a16:rowId xmlns:a16="http://schemas.microsoft.com/office/drawing/2014/main" val="1779419906"/>
                      </a:ext>
                    </a:extLst>
                  </a:tr>
                  <a:tr h="700908">
                    <a:tc>
                      <a:txBody>
                        <a:bodyPr/>
                        <a:lstStyle/>
                        <a:p>
                          <a:pPr algn="ctr"/>
                          <a:r>
                            <a:rPr lang="en-US" sz="2200" dirty="0"/>
                            <a:t>β</a:t>
                          </a:r>
                        </a:p>
                      </a:txBody>
                      <a:tcPr anchor="ctr"/>
                    </a:tc>
                    <a:tc>
                      <a:txBody>
                        <a:bodyPr/>
                        <a:lstStyle/>
                        <a:p>
                          <a:pPr algn="ctr"/>
                          <a14:m>
                            <m:oMath xmlns:m="http://schemas.openxmlformats.org/officeDocument/2006/math">
                              <m:r>
                                <a:rPr lang="en-US" sz="2200" smtClean="0">
                                  <a:latin typeface="Cambria Math" panose="02040503050406030204" pitchFamily="18" charset="0"/>
                                </a:rPr>
                                <m:t>𝑁𝑜𝑟𝑚𝑎𝑙</m:t>
                              </m:r>
                              <m:d>
                                <m:dPr>
                                  <m:ctrlPr>
                                    <a:rPr lang="en-US" sz="2200" i="1">
                                      <a:latin typeface="Cambria Math" panose="02040503050406030204" pitchFamily="18" charset="0"/>
                                    </a:rPr>
                                  </m:ctrlPr>
                                </m:dPr>
                                <m:e>
                                  <m:r>
                                    <a:rPr lang="en-US" sz="2200">
                                      <a:latin typeface="Cambria Math" panose="02040503050406030204" pitchFamily="18" charset="0"/>
                                    </a:rPr>
                                    <m:t>0, 1</m:t>
                                  </m:r>
                                </m:e>
                              </m:d>
                            </m:oMath>
                          </a14:m>
                          <a:r>
                            <a:rPr lang="en-US" sz="2200" dirty="0"/>
                            <a:t> </a:t>
                          </a:r>
                        </a:p>
                      </a:txBody>
                      <a:tcPr anchor="ctr"/>
                    </a:tc>
                    <a:extLst>
                      <a:ext uri="{0D108BD9-81ED-4DB2-BD59-A6C34878D82A}">
                        <a16:rowId xmlns:a16="http://schemas.microsoft.com/office/drawing/2014/main" val="3517434729"/>
                      </a:ext>
                    </a:extLst>
                  </a:tr>
                  <a:tr h="659567">
                    <a:tc>
                      <a:txBody>
                        <a:bodyPr/>
                        <a:lstStyle/>
                        <a:p>
                          <a:pPr algn="ctr"/>
                          <a:r>
                            <a:rPr lang="en-US" sz="2200" dirty="0"/>
                            <a:t>γ</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200" smtClean="0">
                                  <a:latin typeface="Cambria Math" panose="02040503050406030204" pitchFamily="18" charset="0"/>
                                </a:rPr>
                                <m:t>𝑁𝑜𝑟𝑚𝑎𝑙</m:t>
                              </m:r>
                              <m:d>
                                <m:dPr>
                                  <m:ctrlPr>
                                    <a:rPr lang="en-US" sz="2200" i="1">
                                      <a:latin typeface="Cambria Math" panose="02040503050406030204" pitchFamily="18" charset="0"/>
                                    </a:rPr>
                                  </m:ctrlPr>
                                </m:dPr>
                                <m:e>
                                  <m:r>
                                    <a:rPr lang="en-US" sz="2200">
                                      <a:latin typeface="Cambria Math" panose="02040503050406030204" pitchFamily="18" charset="0"/>
                                    </a:rPr>
                                    <m:t>0, 1</m:t>
                                  </m:r>
                                </m:e>
                              </m:d>
                            </m:oMath>
                          </a14:m>
                          <a:r>
                            <a:rPr lang="en-US" sz="2200" dirty="0"/>
                            <a:t> </a:t>
                          </a:r>
                        </a:p>
                      </a:txBody>
                      <a:tcPr anchor="ctr"/>
                    </a:tc>
                    <a:extLst>
                      <a:ext uri="{0D108BD9-81ED-4DB2-BD59-A6C34878D82A}">
                        <a16:rowId xmlns:a16="http://schemas.microsoft.com/office/drawing/2014/main" val="2858671310"/>
                      </a:ext>
                    </a:extLst>
                  </a:tr>
                  <a:tr h="1051891">
                    <a:tc>
                      <a:txBody>
                        <a:bodyPr/>
                        <a:lstStyle/>
                        <a:p>
                          <a:pPr algn="ctr"/>
                          <a:r>
                            <a:rPr lang="en-US" sz="2200" dirty="0"/>
                            <a:t>μ₀</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200" smtClean="0">
                                  <a:latin typeface="Cambria Math" panose="02040503050406030204" pitchFamily="18" charset="0"/>
                                </a:rPr>
                                <m:t>𝑁𝑜𝑟𝑚𝑎𝑙</m:t>
                              </m:r>
                              <m:d>
                                <m:dPr>
                                  <m:ctrlPr>
                                    <a:rPr lang="en-US" sz="2200" i="1">
                                      <a:latin typeface="Cambria Math" panose="02040503050406030204" pitchFamily="18" charset="0"/>
                                    </a:rPr>
                                  </m:ctrlPr>
                                </m:dPr>
                                <m:e>
                                  <m:r>
                                    <a:rPr lang="en-US" sz="2200">
                                      <a:latin typeface="Cambria Math" panose="02040503050406030204" pitchFamily="18" charset="0"/>
                                    </a:rPr>
                                    <m:t>0, 1</m:t>
                                  </m:r>
                                </m:e>
                              </m:d>
                            </m:oMath>
                          </a14:m>
                          <a:r>
                            <a:rPr lang="en-US" sz="2200" dirty="0"/>
                            <a:t> </a:t>
                          </a:r>
                        </a:p>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=&gt; </a:t>
                          </a:r>
                          <a14:m>
                            <m:oMath xmlns:m="http://schemas.openxmlformats.org/officeDocument/2006/math">
                              <m:r>
                                <a:rPr lang="en-US" sz="2200" smtClean="0">
                                  <a:latin typeface="Cambria Math" panose="02040503050406030204" pitchFamily="18" charset="0"/>
                                </a:rPr>
                                <m:t>𝑁𝑜𝑟𝑚𝑎𝑙</m:t>
                              </m:r>
                              <m:d>
                                <m:dPr>
                                  <m:ctrlPr>
                                    <a:rPr lang="en-US" sz="2200" i="1">
                                      <a:latin typeface="Cambria Math" panose="02040503050406030204" pitchFamily="18" charset="0"/>
                                    </a:rPr>
                                  </m:ctrlPr>
                                </m:dPr>
                                <m:e>
                                  <m:r>
                                    <a:rPr lang="en-US" sz="2200" b="0" i="0" smtClean="0">
                                      <a:latin typeface="Cambria Math" panose="02040503050406030204" pitchFamily="18" charset="0"/>
                                    </a:rPr>
                                    <m:t>−1.1, </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0.5</m:t>
                                      </m:r>
                                    </m:e>
                                    <m:sup>
                                      <m:r>
                                        <a:rPr lang="en-US" sz="2200" b="0" i="1" smtClean="0">
                                          <a:latin typeface="Cambria Math" panose="02040503050406030204" pitchFamily="18" charset="0"/>
                                        </a:rPr>
                                        <m:t>2</m:t>
                                      </m:r>
                                    </m:sup>
                                  </m:sSup>
                                </m:e>
                              </m:d>
                            </m:oMath>
                          </a14:m>
                          <a:r>
                            <a:rPr lang="en-US" sz="2200" dirty="0"/>
                            <a:t> </a:t>
                          </a:r>
                        </a:p>
                      </a:txBody>
                      <a:tcPr anchor="ctr"/>
                    </a:tc>
                    <a:extLst>
                      <a:ext uri="{0D108BD9-81ED-4DB2-BD59-A6C34878D82A}">
                        <a16:rowId xmlns:a16="http://schemas.microsoft.com/office/drawing/2014/main" val="2340316232"/>
                      </a:ext>
                    </a:extLst>
                  </a:tr>
                  <a:tr h="1051891">
                    <a:tc>
                      <a:txBody>
                        <a:bodyPr/>
                        <a:lstStyle/>
                        <a:p>
                          <a:pPr algn="ctr"/>
                          <a:r>
                            <a:rPr lang="en-US" sz="2200" dirty="0"/>
                            <a:t>σ</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effectLst/>
                            </a:rPr>
                            <a:t>Half-</a:t>
                          </a:r>
                          <a14:m>
                            <m:oMath xmlns:m="http://schemas.openxmlformats.org/officeDocument/2006/math">
                              <m:r>
                                <a:rPr lang="en-US" sz="2200" i="1">
                                  <a:effectLst/>
                                  <a:latin typeface="Cambria Math" panose="02040503050406030204" pitchFamily="18" charset="0"/>
                                </a:rPr>
                                <m:t>𝑡</m:t>
                              </m:r>
                              <m:r>
                                <a:rPr lang="en-US" sz="2200" i="1">
                                  <a:effectLst/>
                                  <a:latin typeface="Cambria Math" panose="02040503050406030204" pitchFamily="18" charset="0"/>
                                </a:rPr>
                                <m:t>(3,</m:t>
                              </m:r>
                              <m:r>
                                <m:rPr>
                                  <m:nor/>
                                </m:rPr>
                                <a:rPr lang="en-US" sz="2200">
                                  <a:effectLst/>
                                </a:rPr>
                                <m:t> </m:t>
                              </m:r>
                              <m:r>
                                <a:rPr lang="en-US" sz="2200" i="1">
                                  <a:effectLst/>
                                  <a:latin typeface="Cambria Math" panose="02040503050406030204" pitchFamily="18" charset="0"/>
                                </a:rPr>
                                <m:t>0,</m:t>
                              </m:r>
                              <m:r>
                                <m:rPr>
                                  <m:nor/>
                                </m:rPr>
                                <a:rPr lang="en-US" sz="2200">
                                  <a:effectLst/>
                                </a:rPr>
                                <m:t> </m:t>
                              </m:r>
                              <m:r>
                                <a:rPr lang="en-US" sz="2200" i="1">
                                  <a:effectLst/>
                                  <a:latin typeface="Cambria Math" panose="02040503050406030204" pitchFamily="18" charset="0"/>
                                </a:rPr>
                                <m:t>2.5)</m:t>
                              </m:r>
                            </m:oMath>
                          </a14:m>
                          <a:endParaRPr lang="en-US" sz="2200" dirty="0"/>
                        </a:p>
                        <a:p>
                          <a:pPr marL="0" marR="0" lvl="0" indent="0" algn="ctr" defTabSz="914400" eaLnBrk="1" fontAlgn="auto" latinLnBrk="0" hangingPunct="1">
                            <a:lnSpc>
                              <a:spcPct val="100000"/>
                            </a:lnSpc>
                            <a:spcBef>
                              <a:spcPts val="0"/>
                            </a:spcBef>
                            <a:spcAft>
                              <a:spcPts val="0"/>
                            </a:spcAft>
                            <a:buClrTx/>
                            <a:buSzTx/>
                            <a:buFontTx/>
                            <a:buNone/>
                            <a:tabLst/>
                            <a:defRPr/>
                          </a:pPr>
                          <a:r>
                            <a:rPr lang="en-US" sz="2200" dirty="0"/>
                            <a:t>=&gt; </a:t>
                          </a:r>
                          <a14:m>
                            <m:oMath xmlns:m="http://schemas.openxmlformats.org/officeDocument/2006/math">
                              <m:r>
                                <m:rPr>
                                  <m:nor/>
                                </m:rPr>
                                <a:rPr lang="en-US" sz="2200" smtClean="0">
                                  <a:effectLst/>
                                </a:rPr>
                                <m:t>Half</m:t>
                              </m:r>
                              <m:r>
                                <m:rPr>
                                  <m:nor/>
                                </m:rPr>
                                <a:rPr lang="en-US" sz="2200" smtClean="0">
                                  <a:effectLst/>
                                </a:rPr>
                                <m:t>−</m:t>
                              </m:r>
                              <m:r>
                                <a:rPr lang="en-US" sz="2200" i="1">
                                  <a:effectLst/>
                                  <a:latin typeface="Cambria Math" panose="02040503050406030204" pitchFamily="18" charset="0"/>
                                </a:rPr>
                                <m:t>𝑁𝑜𝑟𝑚𝑎𝑙</m:t>
                              </m:r>
                              <m:r>
                                <a:rPr lang="en-US" sz="2200" i="1">
                                  <a:effectLst/>
                                  <a:latin typeface="Cambria Math" panose="02040503050406030204" pitchFamily="18" charset="0"/>
                                </a:rPr>
                                <m:t>(0, </m:t>
                              </m:r>
                              <m:sSup>
                                <m:sSupPr>
                                  <m:ctrlPr>
                                    <a:rPr lang="en-US" sz="2200" i="1">
                                      <a:effectLst/>
                                      <a:latin typeface="Cambria Math" panose="02040503050406030204" pitchFamily="18" charset="0"/>
                                    </a:rPr>
                                  </m:ctrlPr>
                                </m:sSupPr>
                                <m:e>
                                  <m:r>
                                    <a:rPr lang="en-US" sz="2200" i="1">
                                      <a:effectLst/>
                                      <a:latin typeface="Cambria Math" panose="02040503050406030204" pitchFamily="18" charset="0"/>
                                    </a:rPr>
                                    <m:t>0.5</m:t>
                                  </m:r>
                                </m:e>
                                <m:sup>
                                  <m:r>
                                    <a:rPr lang="en-US" sz="2200" i="1">
                                      <a:effectLst/>
                                      <a:latin typeface="Cambria Math" panose="02040503050406030204" pitchFamily="18" charset="0"/>
                                    </a:rPr>
                                    <m:t>2</m:t>
                                  </m:r>
                                </m:sup>
                              </m:sSup>
                              <m:r>
                                <a:rPr lang="en-US" sz="2200" i="1">
                                  <a:effectLst/>
                                  <a:latin typeface="Cambria Math" panose="02040503050406030204" pitchFamily="18" charset="0"/>
                                </a:rPr>
                                <m:t>)</m:t>
                              </m:r>
                            </m:oMath>
                          </a14:m>
                          <a:r>
                            <a:rPr lang="en-US" sz="2200" dirty="0">
                              <a:effectLst/>
                            </a:rPr>
                            <a:t> </a:t>
                          </a:r>
                          <a:endParaRPr lang="en-US" sz="2200" dirty="0"/>
                        </a:p>
                      </a:txBody>
                      <a:tcPr anchor="ctr"/>
                    </a:tc>
                    <a:extLst>
                      <a:ext uri="{0D108BD9-81ED-4DB2-BD59-A6C34878D82A}">
                        <a16:rowId xmlns:a16="http://schemas.microsoft.com/office/drawing/2014/main" val="2158693478"/>
                      </a:ext>
                    </a:extLst>
                  </a:tr>
                </a:tbl>
              </a:graphicData>
            </a:graphic>
          </p:graphicFrame>
        </mc:Choice>
        <mc:Fallback>
          <p:graphicFrame>
            <p:nvGraphicFramePr>
              <p:cNvPr id="20" name="Table 19">
                <a:extLst>
                  <a:ext uri="{FF2B5EF4-FFF2-40B4-BE49-F238E27FC236}">
                    <a16:creationId xmlns:a16="http://schemas.microsoft.com/office/drawing/2014/main" id="{38995C85-A6F7-8D47-A7E5-32EDA000E8D6}"/>
                  </a:ext>
                </a:extLst>
              </p:cNvPr>
              <p:cNvGraphicFramePr>
                <a:graphicFrameLocks noGrp="1"/>
              </p:cNvGraphicFramePr>
              <p:nvPr>
                <p:extLst>
                  <p:ext uri="{D42A27DB-BD31-4B8C-83A1-F6EECF244321}">
                    <p14:modId xmlns:p14="http://schemas.microsoft.com/office/powerpoint/2010/main" val="2899828817"/>
                  </p:ext>
                </p:extLst>
              </p:nvPr>
            </p:nvGraphicFramePr>
            <p:xfrm>
              <a:off x="622300" y="2088465"/>
              <a:ext cx="4311754" cy="4186170"/>
            </p:xfrm>
            <a:graphic>
              <a:graphicData uri="http://schemas.openxmlformats.org/drawingml/2006/table">
                <a:tbl>
                  <a:tblPr firstRow="1" bandRow="1">
                    <a:tableStyleId>{5C22544A-7EE6-4342-B048-85BDC9FD1C3A}</a:tableStyleId>
                  </a:tblPr>
                  <a:tblGrid>
                    <a:gridCol w="1673485">
                      <a:extLst>
                        <a:ext uri="{9D8B030D-6E8A-4147-A177-3AD203B41FA5}">
                          <a16:colId xmlns:a16="http://schemas.microsoft.com/office/drawing/2014/main" val="1990632518"/>
                        </a:ext>
                      </a:extLst>
                    </a:gridCol>
                    <a:gridCol w="2638269">
                      <a:extLst>
                        <a:ext uri="{9D8B030D-6E8A-4147-A177-3AD203B41FA5}">
                          <a16:colId xmlns:a16="http://schemas.microsoft.com/office/drawing/2014/main" val="900457230"/>
                        </a:ext>
                      </a:extLst>
                    </a:gridCol>
                  </a:tblGrid>
                  <a:tr h="631135">
                    <a:tc>
                      <a:txBody>
                        <a:bodyPr/>
                        <a:lstStyle/>
                        <a:p>
                          <a:pPr algn="ctr"/>
                          <a:r>
                            <a:rPr lang="en-US" sz="2200" b="1" dirty="0">
                              <a:solidFill>
                                <a:srgbClr val="FFFFFF"/>
                              </a:solidFill>
                            </a:rPr>
                            <a:t>Parameter</a:t>
                          </a:r>
                        </a:p>
                      </a:txBody>
                      <a:tcPr anchor="ctr">
                        <a:solidFill>
                          <a:srgbClr val="4B2E83"/>
                        </a:solidFill>
                      </a:tcPr>
                    </a:tc>
                    <a:tc>
                      <a:txBody>
                        <a:bodyPr/>
                        <a:lstStyle/>
                        <a:p>
                          <a:pPr algn="ctr"/>
                          <a:r>
                            <a:rPr lang="en-US" sz="2200" b="1" dirty="0">
                              <a:solidFill>
                                <a:srgbClr val="FFFFFF"/>
                              </a:solidFill>
                            </a:rPr>
                            <a:t>Prior</a:t>
                          </a:r>
                        </a:p>
                      </a:txBody>
                      <a:tcPr anchor="ctr">
                        <a:solidFill>
                          <a:srgbClr val="4B2E83"/>
                        </a:solidFill>
                      </a:tcPr>
                    </a:tc>
                    <a:extLst>
                      <a:ext uri="{0D108BD9-81ED-4DB2-BD59-A6C34878D82A}">
                        <a16:rowId xmlns:a16="http://schemas.microsoft.com/office/drawing/2014/main" val="1779419906"/>
                      </a:ext>
                    </a:extLst>
                  </a:tr>
                  <a:tr h="700908">
                    <a:tc>
                      <a:txBody>
                        <a:bodyPr/>
                        <a:lstStyle/>
                        <a:p>
                          <a:pPr algn="ctr"/>
                          <a:r>
                            <a:rPr lang="en-US" sz="2200" dirty="0"/>
                            <a:t>β</a:t>
                          </a:r>
                        </a:p>
                      </a:txBody>
                      <a:tcPr anchor="ctr"/>
                    </a:tc>
                    <a:tc>
                      <a:txBody>
                        <a:bodyPr/>
                        <a:lstStyle/>
                        <a:p>
                          <a:endParaRPr lang="en-US"/>
                        </a:p>
                      </a:txBody>
                      <a:tcPr anchor="ctr">
                        <a:blipFill>
                          <a:blip r:embed="rId3"/>
                          <a:stretch>
                            <a:fillRect l="-63741" t="-91304" r="-924" b="-417391"/>
                          </a:stretch>
                        </a:blipFill>
                      </a:tcPr>
                    </a:tc>
                    <a:extLst>
                      <a:ext uri="{0D108BD9-81ED-4DB2-BD59-A6C34878D82A}">
                        <a16:rowId xmlns:a16="http://schemas.microsoft.com/office/drawing/2014/main" val="3517434729"/>
                      </a:ext>
                    </a:extLst>
                  </a:tr>
                  <a:tr h="659567">
                    <a:tc>
                      <a:txBody>
                        <a:bodyPr/>
                        <a:lstStyle/>
                        <a:p>
                          <a:pPr algn="ctr"/>
                          <a:r>
                            <a:rPr lang="en-US" sz="2200" dirty="0"/>
                            <a:t>γ</a:t>
                          </a:r>
                        </a:p>
                      </a:txBody>
                      <a:tcPr anchor="ctr"/>
                    </a:tc>
                    <a:tc>
                      <a:txBody>
                        <a:bodyPr/>
                        <a:lstStyle/>
                        <a:p>
                          <a:endParaRPr lang="en-US"/>
                        </a:p>
                      </a:txBody>
                      <a:tcPr anchor="ctr">
                        <a:blipFill>
                          <a:blip r:embed="rId3"/>
                          <a:stretch>
                            <a:fillRect l="-63741" t="-203704" r="-924" b="-344444"/>
                          </a:stretch>
                        </a:blipFill>
                      </a:tcPr>
                    </a:tc>
                    <a:extLst>
                      <a:ext uri="{0D108BD9-81ED-4DB2-BD59-A6C34878D82A}">
                        <a16:rowId xmlns:a16="http://schemas.microsoft.com/office/drawing/2014/main" val="2858671310"/>
                      </a:ext>
                    </a:extLst>
                  </a:tr>
                  <a:tr h="1097280">
                    <a:tc>
                      <a:txBody>
                        <a:bodyPr/>
                        <a:lstStyle/>
                        <a:p>
                          <a:pPr algn="ctr"/>
                          <a:r>
                            <a:rPr lang="en-US" sz="2200" dirty="0"/>
                            <a:t>μ₀</a:t>
                          </a:r>
                        </a:p>
                      </a:txBody>
                      <a:tcPr anchor="ctr"/>
                    </a:tc>
                    <a:tc>
                      <a:txBody>
                        <a:bodyPr/>
                        <a:lstStyle/>
                        <a:p>
                          <a:endParaRPr lang="en-US"/>
                        </a:p>
                      </a:txBody>
                      <a:tcPr anchor="ctr">
                        <a:blipFill>
                          <a:blip r:embed="rId3"/>
                          <a:stretch>
                            <a:fillRect l="-63741" t="-181215" r="-924" b="-105525"/>
                          </a:stretch>
                        </a:blipFill>
                      </a:tcPr>
                    </a:tc>
                    <a:extLst>
                      <a:ext uri="{0D108BD9-81ED-4DB2-BD59-A6C34878D82A}">
                        <a16:rowId xmlns:a16="http://schemas.microsoft.com/office/drawing/2014/main" val="2340316232"/>
                      </a:ext>
                    </a:extLst>
                  </a:tr>
                  <a:tr h="1097280">
                    <a:tc>
                      <a:txBody>
                        <a:bodyPr/>
                        <a:lstStyle/>
                        <a:p>
                          <a:pPr algn="ctr"/>
                          <a:r>
                            <a:rPr lang="en-US" sz="2200" dirty="0"/>
                            <a:t>σ</a:t>
                          </a:r>
                        </a:p>
                      </a:txBody>
                      <a:tcPr anchor="ctr"/>
                    </a:tc>
                    <a:tc>
                      <a:txBody>
                        <a:bodyPr/>
                        <a:lstStyle/>
                        <a:p>
                          <a:endParaRPr lang="en-US"/>
                        </a:p>
                      </a:txBody>
                      <a:tcPr anchor="ctr">
                        <a:blipFill>
                          <a:blip r:embed="rId3"/>
                          <a:stretch>
                            <a:fillRect l="-63741" t="-282778" r="-924" b="-6111"/>
                          </a:stretch>
                        </a:blipFill>
                      </a:tcPr>
                    </a:tc>
                    <a:extLst>
                      <a:ext uri="{0D108BD9-81ED-4DB2-BD59-A6C34878D82A}">
                        <a16:rowId xmlns:a16="http://schemas.microsoft.com/office/drawing/2014/main" val="2158693478"/>
                      </a:ext>
                    </a:extLst>
                  </a:tr>
                </a:tbl>
              </a:graphicData>
            </a:graphic>
          </p:graphicFrame>
        </mc:Fallback>
      </mc:AlternateContent>
      <p:sp>
        <p:nvSpPr>
          <p:cNvPr id="21" name="TextBox 20">
            <a:extLst>
              <a:ext uri="{FF2B5EF4-FFF2-40B4-BE49-F238E27FC236}">
                <a16:creationId xmlns:a16="http://schemas.microsoft.com/office/drawing/2014/main" id="{E77B1B52-F3AD-9F48-8921-713301B42DEB}"/>
              </a:ext>
            </a:extLst>
          </p:cNvPr>
          <p:cNvSpPr txBox="1"/>
          <p:nvPr/>
        </p:nvSpPr>
        <p:spPr>
          <a:xfrm>
            <a:off x="7366000" y="1206500"/>
            <a:ext cx="4826000" cy="355600"/>
          </a:xfrm>
          <a:prstGeom prst="rect">
            <a:avLst/>
          </a:prstGeom>
          <a:noFill/>
        </p:spPr>
        <p:txBody>
          <a:bodyPr vertOverflow="overflow" vert="horz" wrap="square" rtlCol="0" anchor="t">
            <a:spAutoFit/>
          </a:bodyPr>
          <a:lstStyle/>
          <a:p>
            <a:pPr algn="l"/>
            <a:r>
              <a:rPr lang="en-US" sz="2200" b="1" dirty="0">
                <a:solidFill>
                  <a:srgbClr val="4B2E83"/>
                </a:solidFill>
              </a:rPr>
              <a:t>Prior predictive check</a:t>
            </a:r>
          </a:p>
        </p:txBody>
      </p:sp>
      <p:pic>
        <p:nvPicPr>
          <p:cNvPr id="3" name="Picture 2">
            <a:extLst>
              <a:ext uri="{FF2B5EF4-FFF2-40B4-BE49-F238E27FC236}">
                <a16:creationId xmlns:a16="http://schemas.microsoft.com/office/drawing/2014/main" id="{51BF2DB6-5DB2-FE53-4C9A-BFF2C03816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0878" y="2019301"/>
            <a:ext cx="6673122" cy="4838699"/>
          </a:xfrm>
          <a:prstGeom prst="rect">
            <a:avLst/>
          </a:prstGeom>
        </p:spPr>
      </p:pic>
    </p:spTree>
    <p:extLst>
      <p:ext uri="{BB962C8B-B14F-4D97-AF65-F5344CB8AC3E}">
        <p14:creationId xmlns:p14="http://schemas.microsoft.com/office/powerpoint/2010/main" val="728512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1207A70-5398-56F3-D9B9-4DE5BA0290DF}"/>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a:solidFill>
                  <a:srgbClr val="4B2E83"/>
                </a:solidFill>
              </a:rPr>
              <a:t>More Figures on Prior-Predictive Checks</a:t>
            </a:r>
            <a:endParaRPr lang="en-US" sz="3200" b="1" dirty="0">
              <a:solidFill>
                <a:srgbClr val="4B2E83"/>
              </a:solidFill>
            </a:endParaRPr>
          </a:p>
        </p:txBody>
      </p:sp>
      <p:pic>
        <p:nvPicPr>
          <p:cNvPr id="4" name="Picture 3">
            <a:extLst>
              <a:ext uri="{FF2B5EF4-FFF2-40B4-BE49-F238E27FC236}">
                <a16:creationId xmlns:a16="http://schemas.microsoft.com/office/drawing/2014/main" id="{CD20D3E3-9E01-F09E-2714-956F1A1A0E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7881" y="918000"/>
            <a:ext cx="8416238" cy="5940000"/>
          </a:xfrm>
          <a:prstGeom prst="rect">
            <a:avLst/>
          </a:prstGeom>
        </p:spPr>
      </p:pic>
    </p:spTree>
    <p:extLst>
      <p:ext uri="{BB962C8B-B14F-4D97-AF65-F5344CB8AC3E}">
        <p14:creationId xmlns:p14="http://schemas.microsoft.com/office/powerpoint/2010/main" val="799271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D32A1-3B76-AE1D-D374-400DC271CCE7}"/>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667F37F-C848-699E-DE3C-020C3309761E}"/>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Model fitting</a:t>
            </a:r>
          </a:p>
        </p:txBody>
      </p:sp>
      <p:sp>
        <p:nvSpPr>
          <p:cNvPr id="3" name="TextBox 2">
            <a:extLst>
              <a:ext uri="{FF2B5EF4-FFF2-40B4-BE49-F238E27FC236}">
                <a16:creationId xmlns:a16="http://schemas.microsoft.com/office/drawing/2014/main" id="{D8985F11-DC42-694B-94A6-36793DAF2798}"/>
              </a:ext>
            </a:extLst>
          </p:cNvPr>
          <p:cNvSpPr txBox="1"/>
          <p:nvPr/>
        </p:nvSpPr>
        <p:spPr>
          <a:xfrm>
            <a:off x="635000" y="1005781"/>
            <a:ext cx="3196220" cy="355600"/>
          </a:xfrm>
          <a:prstGeom prst="rect">
            <a:avLst/>
          </a:prstGeom>
          <a:noFill/>
        </p:spPr>
        <p:txBody>
          <a:bodyPr vertOverflow="overflow" vert="horz" wrap="square" rtlCol="0" anchor="t">
            <a:noAutofit/>
          </a:bodyPr>
          <a:lstStyle/>
          <a:p>
            <a:pPr algn="ctr"/>
            <a:r>
              <a:rPr lang="en-US" sz="2200" b="1" dirty="0">
                <a:solidFill>
                  <a:srgbClr val="4B2E83"/>
                </a:solidFill>
              </a:rPr>
              <a:t>Software &amp; setup</a:t>
            </a:r>
          </a:p>
        </p:txBody>
      </p:sp>
      <p:sp>
        <p:nvSpPr>
          <p:cNvPr id="4" name="Card0">
            <a:extLst>
              <a:ext uri="{FF2B5EF4-FFF2-40B4-BE49-F238E27FC236}">
                <a16:creationId xmlns:a16="http://schemas.microsoft.com/office/drawing/2014/main" id="{1E60280D-7B93-CF4C-8B9B-DE5AD669C136}"/>
              </a:ext>
            </a:extLst>
          </p:cNvPr>
          <p:cNvSpPr/>
          <p:nvPr/>
        </p:nvSpPr>
        <p:spPr>
          <a:xfrm>
            <a:off x="635000" y="1450281"/>
            <a:ext cx="3196220" cy="4800048"/>
          </a:xfrm>
          <a:prstGeom prst="rect">
            <a:avLst/>
          </a:prstGeom>
          <a:solidFill>
            <a:srgbClr val="F4F0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82880" tIns="182880" rIns="182880" bIns="182880" rtlCol="0" anchor="ctr"/>
          <a:lstStyle/>
          <a:p>
            <a:pPr marL="228600" indent="-228600">
              <a:spcAft>
                <a:spcPts val="600"/>
              </a:spcAft>
              <a:buFont typeface="Arial"/>
              <a:buChar char="•"/>
            </a:pPr>
            <a:r>
              <a:rPr lang="en-US" sz="1600" dirty="0">
                <a:solidFill>
                  <a:srgbClr val="1F1235"/>
                </a:solidFill>
              </a:rPr>
              <a:t>Fit in </a:t>
            </a:r>
            <a:r>
              <a:rPr lang="en-US" sz="1600" b="1" dirty="0">
                <a:solidFill>
                  <a:srgbClr val="1F1235"/>
                </a:solidFill>
              </a:rPr>
              <a:t>R</a:t>
            </a:r>
            <a:r>
              <a:rPr lang="en-US" sz="1600" dirty="0">
                <a:solidFill>
                  <a:srgbClr val="1F1235"/>
                </a:solidFill>
              </a:rPr>
              <a:t> using </a:t>
            </a:r>
            <a:r>
              <a:rPr lang="en-US" sz="1600" b="1" dirty="0">
                <a:solidFill>
                  <a:srgbClr val="1F1235"/>
                </a:solidFill>
              </a:rPr>
              <a:t>JAGS</a:t>
            </a:r>
            <a:r>
              <a:rPr lang="en-US" sz="1600" dirty="0">
                <a:solidFill>
                  <a:srgbClr val="1F1235"/>
                </a:solidFill>
              </a:rPr>
              <a:t> via </a:t>
            </a:r>
            <a:r>
              <a:rPr lang="en-US" sz="1600" b="1" dirty="0">
                <a:solidFill>
                  <a:srgbClr val="1F1235"/>
                </a:solidFill>
              </a:rPr>
              <a:t>rjags</a:t>
            </a:r>
          </a:p>
          <a:p>
            <a:pPr marL="228600" indent="-228600">
              <a:spcAft>
                <a:spcPts val="600"/>
              </a:spcAft>
              <a:buFont typeface="Arial"/>
              <a:buChar char="•"/>
            </a:pPr>
            <a:r>
              <a:rPr lang="en-US" sz="1600" dirty="0">
                <a:solidFill>
                  <a:srgbClr val="1F1235"/>
                </a:solidFill>
              </a:rPr>
              <a:t>Gibbs sampling</a:t>
            </a:r>
          </a:p>
          <a:p>
            <a:pPr marL="228600" indent="-228600">
              <a:spcAft>
                <a:spcPts val="600"/>
              </a:spcAft>
              <a:buFont typeface="Arial"/>
              <a:buChar char="•"/>
            </a:pPr>
            <a:r>
              <a:rPr lang="en-US" sz="1600" b="1" dirty="0">
                <a:solidFill>
                  <a:srgbClr val="1F1235"/>
                </a:solidFill>
              </a:rPr>
              <a:t>4 independent chains</a:t>
            </a:r>
            <a:r>
              <a:rPr lang="en-US" sz="1600" dirty="0">
                <a:solidFill>
                  <a:srgbClr val="1F1235"/>
                </a:solidFill>
              </a:rPr>
              <a:t> </a:t>
            </a:r>
          </a:p>
          <a:p>
            <a:pPr marL="228600" indent="-228600">
              <a:spcAft>
                <a:spcPts val="600"/>
              </a:spcAft>
              <a:buFont typeface="Arial"/>
              <a:buChar char="•"/>
            </a:pPr>
            <a:r>
              <a:rPr lang="en-US" sz="1600" b="1" dirty="0">
                <a:solidFill>
                  <a:srgbClr val="1F1235"/>
                </a:solidFill>
              </a:rPr>
              <a:t>Burn-in: </a:t>
            </a:r>
            <a:r>
              <a:rPr lang="en-US" sz="1600" dirty="0">
                <a:solidFill>
                  <a:srgbClr val="1F1235"/>
                </a:solidFill>
              </a:rPr>
              <a:t>10,000 iterations (discarded)</a:t>
            </a:r>
          </a:p>
          <a:p>
            <a:pPr marL="228600" indent="-228600">
              <a:spcAft>
                <a:spcPts val="600"/>
              </a:spcAft>
              <a:buFont typeface="Arial"/>
              <a:buChar char="•"/>
            </a:pPr>
            <a:r>
              <a:rPr lang="en-US" sz="1600" b="1" dirty="0">
                <a:solidFill>
                  <a:srgbClr val="1F1235"/>
                </a:solidFill>
              </a:rPr>
              <a:t>Post burn-in: </a:t>
            </a:r>
            <a:r>
              <a:rPr lang="en-US" sz="1600" dirty="0">
                <a:solidFill>
                  <a:srgbClr val="1F1235"/>
                </a:solidFill>
              </a:rPr>
              <a:t>20,000 iterations, thinned by 2</a:t>
            </a:r>
          </a:p>
          <a:p>
            <a:pPr marL="228600" indent="-228600">
              <a:spcAft>
                <a:spcPts val="600"/>
              </a:spcAft>
              <a:buFont typeface="Arial"/>
              <a:buChar char="•"/>
            </a:pPr>
            <a:r>
              <a:rPr lang="en-US" sz="1600" b="1" dirty="0">
                <a:solidFill>
                  <a:srgbClr val="1F1235"/>
                </a:solidFill>
              </a:rPr>
              <a:t>10,000 draws / chain</a:t>
            </a:r>
            <a:r>
              <a:rPr lang="en-US" sz="1600" dirty="0">
                <a:solidFill>
                  <a:srgbClr val="1F1235"/>
                </a:solidFill>
              </a:rPr>
              <a:t> → </a:t>
            </a:r>
            <a:r>
              <a:rPr lang="en-US" sz="1600" b="1" dirty="0">
                <a:solidFill>
                  <a:srgbClr val="1F1235"/>
                </a:solidFill>
              </a:rPr>
              <a:t>40,000 total</a:t>
            </a:r>
            <a:r>
              <a:rPr lang="en-US" sz="1600" dirty="0">
                <a:solidFill>
                  <a:srgbClr val="1F1235"/>
                </a:solidFill>
              </a:rPr>
              <a:t> per model</a:t>
            </a:r>
          </a:p>
          <a:p>
            <a:pPr marL="228600" indent="-228600">
              <a:spcAft>
                <a:spcPts val="600"/>
              </a:spcAft>
              <a:buFont typeface="Arial"/>
              <a:buChar char="•"/>
            </a:pPr>
            <a:endParaRPr lang="en-US" sz="1600" dirty="0">
              <a:solidFill>
                <a:srgbClr val="1F1235"/>
              </a:solidFill>
            </a:endParaRPr>
          </a:p>
          <a:p>
            <a:pPr marL="228600" indent="-228600">
              <a:spcAft>
                <a:spcPts val="600"/>
              </a:spcAft>
              <a:buFont typeface="Arial"/>
              <a:buChar char="•"/>
            </a:pPr>
            <a:r>
              <a:rPr lang="en-US" sz="1600" b="1" dirty="0">
                <a:solidFill>
                  <a:srgbClr val="1F1235"/>
                </a:solidFill>
              </a:rPr>
              <a:t>LOO comparison</a:t>
            </a:r>
            <a:r>
              <a:rPr lang="en-US" sz="1600" dirty="0">
                <a:solidFill>
                  <a:srgbClr val="1F1235"/>
                </a:solidFill>
              </a:rPr>
              <a:t>: specified model vs. specified model + baseline score (ANCOVA)</a:t>
            </a:r>
          </a:p>
          <a:p>
            <a:pPr marL="685800" lvl="1" indent="-228600">
              <a:spcAft>
                <a:spcPts val="600"/>
              </a:spcAft>
              <a:buFont typeface="Arial"/>
              <a:buChar char="•"/>
            </a:pPr>
            <a:r>
              <a:rPr lang="en-US" sz="1600" b="1" i="1" dirty="0">
                <a:solidFill>
                  <a:srgbClr val="4B2D83"/>
                </a:solidFill>
              </a:rPr>
              <a:t>ANCOVA is preferred and reported!</a:t>
            </a:r>
            <a:endParaRPr lang="en-US" sz="1600" dirty="0">
              <a:solidFill>
                <a:srgbClr val="1F1235"/>
              </a:solidFill>
            </a:endParaRPr>
          </a:p>
        </p:txBody>
      </p:sp>
      <p:pic>
        <p:nvPicPr>
          <p:cNvPr id="11" name="Picture 10">
            <a:extLst>
              <a:ext uri="{FF2B5EF4-FFF2-40B4-BE49-F238E27FC236}">
                <a16:creationId xmlns:a16="http://schemas.microsoft.com/office/drawing/2014/main" id="{10C07024-1EF6-0678-1B20-25E3FA1935BB}"/>
              </a:ext>
            </a:extLst>
          </p:cNvPr>
          <p:cNvPicPr>
            <a:picLocks noChangeAspect="1"/>
          </p:cNvPicPr>
          <p:nvPr/>
        </p:nvPicPr>
        <p:blipFill>
          <a:blip r:embed="rId3"/>
          <a:stretch>
            <a:fillRect/>
          </a:stretch>
        </p:blipFill>
        <p:spPr>
          <a:xfrm>
            <a:off x="3831220" y="1704925"/>
            <a:ext cx="8242132" cy="4313911"/>
          </a:xfrm>
          <a:prstGeom prst="rect">
            <a:avLst/>
          </a:prstGeom>
        </p:spPr>
      </p:pic>
    </p:spTree>
    <p:extLst>
      <p:ext uri="{BB962C8B-B14F-4D97-AF65-F5344CB8AC3E}">
        <p14:creationId xmlns:p14="http://schemas.microsoft.com/office/powerpoint/2010/main" val="2474491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0EB98-EBBA-F206-8F7C-CAEE87BF3637}"/>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B895752B-F653-6D88-9135-96EE20E908B6}"/>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Diagnostics (1)</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00ECDB2-A637-66F6-BBEE-1BBA75D1C63F}"/>
                  </a:ext>
                </a:extLst>
              </p:cNvPr>
              <p:cNvGraphicFramePr>
                <a:graphicFrameLocks noGrp="1"/>
              </p:cNvGraphicFramePr>
              <p:nvPr>
                <p:extLst>
                  <p:ext uri="{D42A27DB-BD31-4B8C-83A1-F6EECF244321}">
                    <p14:modId xmlns:p14="http://schemas.microsoft.com/office/powerpoint/2010/main" val="83257326"/>
                  </p:ext>
                </p:extLst>
              </p:nvPr>
            </p:nvGraphicFramePr>
            <p:xfrm>
              <a:off x="998002" y="1003300"/>
              <a:ext cx="10195995" cy="5983605"/>
            </p:xfrm>
            <a:graphic>
              <a:graphicData uri="http://schemas.openxmlformats.org/drawingml/2006/table">
                <a:tbl>
                  <a:tblPr firstRow="1" firstCol="1" bandRow="1"/>
                  <a:tblGrid>
                    <a:gridCol w="2039199">
                      <a:extLst>
                        <a:ext uri="{9D8B030D-6E8A-4147-A177-3AD203B41FA5}">
                          <a16:colId xmlns:a16="http://schemas.microsoft.com/office/drawing/2014/main" val="2528658948"/>
                        </a:ext>
                      </a:extLst>
                    </a:gridCol>
                    <a:gridCol w="2039199">
                      <a:extLst>
                        <a:ext uri="{9D8B030D-6E8A-4147-A177-3AD203B41FA5}">
                          <a16:colId xmlns:a16="http://schemas.microsoft.com/office/drawing/2014/main" val="2882830504"/>
                        </a:ext>
                      </a:extLst>
                    </a:gridCol>
                    <a:gridCol w="2039199">
                      <a:extLst>
                        <a:ext uri="{9D8B030D-6E8A-4147-A177-3AD203B41FA5}">
                          <a16:colId xmlns:a16="http://schemas.microsoft.com/office/drawing/2014/main" val="4031674690"/>
                        </a:ext>
                      </a:extLst>
                    </a:gridCol>
                    <a:gridCol w="2039199">
                      <a:extLst>
                        <a:ext uri="{9D8B030D-6E8A-4147-A177-3AD203B41FA5}">
                          <a16:colId xmlns:a16="http://schemas.microsoft.com/office/drawing/2014/main" val="2416925281"/>
                        </a:ext>
                      </a:extLst>
                    </a:gridCol>
                    <a:gridCol w="2039199">
                      <a:extLst>
                        <a:ext uri="{9D8B030D-6E8A-4147-A177-3AD203B41FA5}">
                          <a16:colId xmlns:a16="http://schemas.microsoft.com/office/drawing/2014/main" val="3348992142"/>
                        </a:ext>
                      </a:extLst>
                    </a:gridCol>
                  </a:tblGrid>
                  <a:tr h="264101">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Outcome</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Parameter</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acc>
                                  <m:accPr>
                                    <m:chr m:val="̂"/>
                                    <m:ctrlPr>
                                      <a:rPr lang="en-US" sz="1600" i="1" kern="100">
                                        <a:effectLst/>
                                        <a:latin typeface="Cambria Math" panose="02040503050406030204" pitchFamily="18" charset="0"/>
                                        <a:ea typeface="Times New Roman" panose="02020603050405020304" pitchFamily="18" charset="0"/>
                                      </a:rPr>
                                    </m:ctrlPr>
                                  </m:accPr>
                                  <m:e>
                                    <m:r>
                                      <a:rPr lang="en-US" sz="1600" b="1" i="1" kern="100">
                                        <a:effectLst/>
                                        <a:latin typeface="Cambria Math" panose="02040503050406030204" pitchFamily="18" charset="0"/>
                                        <a:ea typeface="Times New Roman" panose="02020603050405020304" pitchFamily="18" charset="0"/>
                                      </a:rPr>
                                      <m:t>𝑹</m:t>
                                    </m:r>
                                  </m:e>
                                </m:acc>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algn="ctr">
                            <a:lnSpc>
                              <a:spcPct val="115000"/>
                            </a:lnSpc>
                            <a:buNone/>
                          </a:pPr>
                          <a14:m>
                            <m:oMath xmlns:m="http://schemas.openxmlformats.org/officeDocument/2006/math">
                              <m:acc>
                                <m:accPr>
                                  <m:chr m:val="̂"/>
                                  <m:ctrlPr>
                                    <a:rPr lang="en-US" sz="1600" i="1" kern="100">
                                      <a:effectLst/>
                                      <a:latin typeface="Cambria Math" panose="02040503050406030204" pitchFamily="18" charset="0"/>
                                      <a:ea typeface="Times New Roman" panose="02020603050405020304" pitchFamily="18" charset="0"/>
                                    </a:rPr>
                                  </m:ctrlPr>
                                </m:accPr>
                                <m:e>
                                  <m:r>
                                    <a:rPr lang="en-US" sz="1600" b="1" i="1" kern="100">
                                      <a:effectLst/>
                                      <a:latin typeface="Cambria Math" panose="02040503050406030204" pitchFamily="18" charset="0"/>
                                      <a:ea typeface="Times New Roman" panose="02020603050405020304" pitchFamily="18" charset="0"/>
                                    </a:rPr>
                                    <m:t>𝑹</m:t>
                                  </m:r>
                                </m:e>
                              </m:acc>
                            </m:oMath>
                          </a14:m>
                          <a:r>
                            <a:rPr lang="en-US" sz="1600" b="1" kern="100">
                              <a:solidFill>
                                <a:srgbClr val="000000"/>
                              </a:solidFill>
                              <a:effectLst/>
                              <a:latin typeface="Times New Roman" panose="02020603050405020304" pitchFamily="18" charset="0"/>
                              <a:ea typeface="Times New Roman" panose="02020603050405020304" pitchFamily="18" charset="0"/>
                            </a:rPr>
                            <a:t> (UCI)</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ESS</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697171581"/>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smtClean="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𝛽</m:t>
                                    </m:r>
                                  </m:e>
                                  <m:sub>
                                    <m:r>
                                      <a:rPr lang="en-US" sz="1600" b="0" i="1" kern="100" smtClean="0">
                                        <a:effectLst/>
                                        <a:latin typeface="Cambria Math" panose="02040503050406030204" pitchFamily="18" charset="0"/>
                                        <a:ea typeface="Times New Roman" panose="02020603050405020304" pitchFamily="18" charset="0"/>
                                      </a:rPr>
                                      <m:t>𝑡𝑟𝑡</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4547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3616752296"/>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𝛾</m:t>
                                    </m:r>
                                  </m:e>
                                  <m:sub>
                                    <m:r>
                                      <a:rPr lang="en-US" sz="1600" i="1" kern="100">
                                        <a:effectLst/>
                                        <a:latin typeface="Cambria Math" panose="02040503050406030204" pitchFamily="18" charset="0"/>
                                        <a:ea typeface="Times New Roman" panose="02020603050405020304" pitchFamily="18" charset="0"/>
                                      </a:rPr>
                                      <m:t>2</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5330</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408547168"/>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𝛾</m:t>
                                    </m:r>
                                  </m:e>
                                  <m:sub>
                                    <m:r>
                                      <a:rPr lang="en-US" sz="1600" i="1" kern="100">
                                        <a:effectLst/>
                                        <a:latin typeface="Cambria Math" panose="02040503050406030204" pitchFamily="18" charset="0"/>
                                        <a:ea typeface="Times New Roman" panose="02020603050405020304" pitchFamily="18" charset="0"/>
                                      </a:rPr>
                                      <m:t>3</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1.026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4275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226120826"/>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solidFill>
                                          <a:srgbClr val="000000"/>
                                        </a:solidFill>
                                        <a:effectLst/>
                                        <a:latin typeface="Cambria Math" panose="02040503050406030204" pitchFamily="18" charset="0"/>
                                        <a:ea typeface="Times New Roman" panose="02020603050405020304" pitchFamily="18" charset="0"/>
                                      </a:rPr>
                                      <m:t>𝜇</m:t>
                                    </m:r>
                                  </m:e>
                                  <m:sub>
                                    <m:r>
                                      <a:rPr lang="en-US" sz="1600" i="1" kern="100">
                                        <a:solidFill>
                                          <a:srgbClr val="000000"/>
                                        </a:solidFill>
                                        <a:effectLst/>
                                        <a:latin typeface="Cambria Math" panose="02040503050406030204" pitchFamily="18" charset="0"/>
                                        <a:ea typeface="Times New Roman" panose="02020603050405020304" pitchFamily="18" charset="0"/>
                                      </a:rPr>
                                      <m:t>0</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1.055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1423</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337166553"/>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solidFill>
                                          <a:srgbClr val="000000"/>
                                        </a:solidFill>
                                        <a:effectLst/>
                                        <a:latin typeface="Cambria Math" panose="02040503050406030204" pitchFamily="18" charset="0"/>
                                        <a:ea typeface="Times New Roman" panose="02020603050405020304" pitchFamily="18" charset="0"/>
                                      </a:rPr>
                                      <m:t>𝜎</m:t>
                                    </m:r>
                                  </m:e>
                                  <m:sub>
                                    <m:r>
                                      <a:rPr lang="en-US" sz="1600" i="1" kern="100">
                                        <a:solidFill>
                                          <a:srgbClr val="000000"/>
                                        </a:solidFill>
                                        <a:effectLst/>
                                        <a:latin typeface="Cambria Math" panose="02040503050406030204" pitchFamily="18" charset="0"/>
                                        <a:ea typeface="Times New Roman" panose="02020603050405020304" pitchFamily="18" charset="0"/>
                                      </a:rPr>
                                      <m:t>𝑐𝑙𝑢𝑠𝑡𝑒𝑟</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1.043</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481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2936521938"/>
                      </a:ext>
                    </a:extLst>
                  </a:tr>
                  <a:tr h="282265">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solidFill>
                                          <a:srgbClr val="000000"/>
                                        </a:solidFill>
                                        <a:effectLst/>
                                        <a:latin typeface="Cambria Math" panose="02040503050406030204" pitchFamily="18" charset="0"/>
                                        <a:ea typeface="Times New Roman" panose="02020603050405020304" pitchFamily="18" charset="0"/>
                                      </a:rPr>
                                    </m:ctrlPr>
                                  </m:sSubPr>
                                  <m:e>
                                    <m:r>
                                      <a:rPr lang="en-US" sz="1600" i="1" kern="100">
                                        <a:solidFill>
                                          <a:srgbClr val="000000"/>
                                        </a:solidFill>
                                        <a:effectLst/>
                                        <a:latin typeface="Cambria Math" panose="02040503050406030204" pitchFamily="18" charset="0"/>
                                        <a:ea typeface="Times New Roman" panose="02020603050405020304" pitchFamily="18" charset="0"/>
                                      </a:rPr>
                                      <m:t>𝛼</m:t>
                                    </m:r>
                                  </m:e>
                                  <m:sub>
                                    <m:r>
                                      <a:rPr lang="en-US" sz="1600" i="1" kern="100">
                                        <a:solidFill>
                                          <a:srgbClr val="000000"/>
                                        </a:solidFill>
                                        <a:effectLst/>
                                        <a:latin typeface="Cambria Math" panose="02040503050406030204" pitchFamily="18" charset="0"/>
                                        <a:ea typeface="Times New Roman" panose="02020603050405020304" pitchFamily="18" charset="0"/>
                                      </a:rPr>
                                      <m:t>[1:50]</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4682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614074839"/>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smtClean="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𝛽</m:t>
                                    </m:r>
                                  </m:e>
                                  <m:sub>
                                    <m:r>
                                      <a:rPr lang="en-US" sz="1600" b="0" i="1" kern="100" smtClean="0">
                                        <a:effectLst/>
                                        <a:latin typeface="Cambria Math" panose="02040503050406030204" pitchFamily="18" charset="0"/>
                                        <a:ea typeface="Times New Roman" panose="02020603050405020304" pitchFamily="18" charset="0"/>
                                      </a:rPr>
                                      <m:t>𝑡𝑟𝑡</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2666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115159466"/>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𝛾</m:t>
                                    </m:r>
                                  </m:e>
                                  <m:sub>
                                    <m:r>
                                      <a:rPr lang="en-US" sz="1600" i="1" kern="100">
                                        <a:effectLst/>
                                        <a:latin typeface="Cambria Math" panose="02040503050406030204" pitchFamily="18" charset="0"/>
                                        <a:ea typeface="Times New Roman" panose="02020603050405020304" pitchFamily="18" charset="0"/>
                                      </a:rPr>
                                      <m:t>2</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3423</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510519534"/>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𝛾</m:t>
                                    </m:r>
                                  </m:e>
                                  <m:sub>
                                    <m:r>
                                      <a:rPr lang="en-US" sz="1600" i="1" kern="100">
                                        <a:effectLst/>
                                        <a:latin typeface="Cambria Math" panose="02040503050406030204" pitchFamily="18" charset="0"/>
                                        <a:ea typeface="Times New Roman" panose="02020603050405020304" pitchFamily="18" charset="0"/>
                                      </a:rPr>
                                      <m:t>3</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3174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597421817"/>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𝜇</m:t>
                                    </m:r>
                                  </m:e>
                                  <m:sub>
                                    <m:r>
                                      <a:rPr lang="en-US" sz="1600" i="1" kern="100">
                                        <a:effectLst/>
                                        <a:latin typeface="Cambria Math" panose="02040503050406030204" pitchFamily="18" charset="0"/>
                                        <a:ea typeface="Times New Roman" panose="02020603050405020304" pitchFamily="18" charset="0"/>
                                      </a:rPr>
                                      <m:t>0</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1.024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638</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099314062"/>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solidFill>
                                          <a:srgbClr val="000000"/>
                                        </a:solidFill>
                                        <a:effectLst/>
                                        <a:latin typeface="Cambria Math" panose="02040503050406030204" pitchFamily="18" charset="0"/>
                                        <a:ea typeface="Times New Roman" panose="02020603050405020304" pitchFamily="18" charset="0"/>
                                      </a:rPr>
                                      <m:t>𝜎</m:t>
                                    </m:r>
                                  </m:e>
                                  <m:sub>
                                    <m:r>
                                      <a:rPr lang="en-US" sz="1600" i="1" kern="100">
                                        <a:solidFill>
                                          <a:srgbClr val="000000"/>
                                        </a:solidFill>
                                        <a:effectLst/>
                                        <a:latin typeface="Cambria Math" panose="02040503050406030204" pitchFamily="18" charset="0"/>
                                        <a:ea typeface="Times New Roman" panose="02020603050405020304" pitchFamily="18" charset="0"/>
                                      </a:rPr>
                                      <m:t>𝑐𝑙𝑢𝑠𝑡𝑒𝑟</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1.044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399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3166810984"/>
                      </a:ext>
                    </a:extLst>
                  </a:tr>
                  <a:tr h="282265">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solidFill>
                                          <a:srgbClr val="000000"/>
                                        </a:solidFill>
                                        <a:effectLst/>
                                        <a:latin typeface="Cambria Math" panose="02040503050406030204" pitchFamily="18" charset="0"/>
                                        <a:ea typeface="Times New Roman" panose="02020603050405020304" pitchFamily="18" charset="0"/>
                                      </a:rPr>
                                    </m:ctrlPr>
                                  </m:sSubPr>
                                  <m:e>
                                    <m:r>
                                      <a:rPr lang="en-US" sz="1600" i="1" kern="100">
                                        <a:solidFill>
                                          <a:srgbClr val="000000"/>
                                        </a:solidFill>
                                        <a:effectLst/>
                                        <a:latin typeface="Cambria Math" panose="02040503050406030204" pitchFamily="18" charset="0"/>
                                        <a:ea typeface="Times New Roman" panose="02020603050405020304" pitchFamily="18" charset="0"/>
                                      </a:rPr>
                                      <m:t>𝛼</m:t>
                                    </m:r>
                                  </m:e>
                                  <m:sub>
                                    <m:r>
                                      <a:rPr lang="en-US" sz="1600" i="1" kern="100">
                                        <a:solidFill>
                                          <a:srgbClr val="000000"/>
                                        </a:solidFill>
                                        <a:effectLst/>
                                        <a:latin typeface="Cambria Math" panose="02040503050406030204" pitchFamily="18" charset="0"/>
                                        <a:ea typeface="Times New Roman" panose="02020603050405020304" pitchFamily="18" charset="0"/>
                                      </a:rPr>
                                      <m:t>[1:50]</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1787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858857828"/>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smtClean="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𝛽</m:t>
                                    </m:r>
                                  </m:e>
                                  <m:sub>
                                    <m:r>
                                      <a:rPr lang="en-US" sz="1600" b="0" i="1" kern="100" smtClean="0">
                                        <a:effectLst/>
                                        <a:latin typeface="Cambria Math" panose="02040503050406030204" pitchFamily="18" charset="0"/>
                                        <a:ea typeface="Times New Roman" panose="02020603050405020304" pitchFamily="18" charset="0"/>
                                      </a:rPr>
                                      <m:t>𝑡𝑟𝑡</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1.000</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2786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035468422"/>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𝛾</m:t>
                                    </m:r>
                                  </m:e>
                                  <m:sub>
                                    <m:r>
                                      <a:rPr lang="en-US" sz="1600" i="1" kern="100">
                                        <a:effectLst/>
                                        <a:latin typeface="Cambria Math" panose="02040503050406030204" pitchFamily="18" charset="0"/>
                                        <a:ea typeface="Times New Roman" panose="02020603050405020304" pitchFamily="18" charset="0"/>
                                      </a:rPr>
                                      <m:t>2</m:t>
                                    </m:r>
                                  </m:sub>
                                </m:sSub>
                              </m:oMath>
                            </m:oMathPara>
                          </a14:m>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3197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079046837"/>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𝛾</m:t>
                                    </m:r>
                                  </m:e>
                                  <m:sub>
                                    <m:r>
                                      <a:rPr lang="en-US" sz="1600" i="1" kern="100">
                                        <a:effectLst/>
                                        <a:latin typeface="Cambria Math" panose="02040503050406030204" pitchFamily="18" charset="0"/>
                                        <a:ea typeface="Times New Roman" panose="02020603050405020304" pitchFamily="18" charset="0"/>
                                      </a:rPr>
                                      <m:t>3</m:t>
                                    </m:r>
                                  </m:sub>
                                </m:sSub>
                              </m:oMath>
                            </m:oMathPara>
                          </a14:m>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3015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703621081"/>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rPr>
                                      <m:t>𝜇</m:t>
                                    </m:r>
                                  </m:e>
                                  <m:sub>
                                    <m:r>
                                      <a:rPr lang="en-US" sz="1600" i="1" kern="100">
                                        <a:effectLst/>
                                        <a:latin typeface="Cambria Math" panose="02040503050406030204" pitchFamily="18" charset="0"/>
                                        <a:ea typeface="Times New Roman" panose="02020603050405020304" pitchFamily="18" charset="0"/>
                                      </a:rPr>
                                      <m:t>0</m:t>
                                    </m:r>
                                  </m:sub>
                                </m:sSub>
                              </m:oMath>
                            </m:oMathPara>
                          </a14:m>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654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352465835"/>
                      </a:ext>
                    </a:extLst>
                  </a:tr>
                  <a:tr h="257113">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Times New Roman" panose="02020603050405020304" pitchFamily="18" charset="0"/>
                                      </a:rPr>
                                    </m:ctrlPr>
                                  </m:sSubPr>
                                  <m:e>
                                    <m:r>
                                      <a:rPr lang="en-US" sz="1600" i="1" kern="100">
                                        <a:solidFill>
                                          <a:srgbClr val="000000"/>
                                        </a:solidFill>
                                        <a:effectLst/>
                                        <a:latin typeface="Cambria Math" panose="02040503050406030204" pitchFamily="18" charset="0"/>
                                        <a:ea typeface="Times New Roman" panose="02020603050405020304" pitchFamily="18" charset="0"/>
                                      </a:rPr>
                                      <m:t>𝜎</m:t>
                                    </m:r>
                                  </m:e>
                                  <m:sub>
                                    <m:r>
                                      <a:rPr lang="en-US" sz="1600" i="1" kern="100">
                                        <a:solidFill>
                                          <a:srgbClr val="000000"/>
                                        </a:solidFill>
                                        <a:effectLst/>
                                        <a:latin typeface="Cambria Math" panose="02040503050406030204" pitchFamily="18" charset="0"/>
                                        <a:ea typeface="Times New Roman" panose="02020603050405020304" pitchFamily="18" charset="0"/>
                                      </a:rPr>
                                      <m:t>𝑐𝑙𝑢𝑠𝑡𝑒𝑟</m:t>
                                    </m:r>
                                  </m:sub>
                                </m:sSub>
                              </m:oMath>
                            </m:oMathPara>
                          </a14:m>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1.036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3897958272"/>
                      </a:ext>
                    </a:extLst>
                  </a:tr>
                  <a:tr h="282265">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14:m>
                            <m:oMathPara xmlns:m="http://schemas.openxmlformats.org/officeDocument/2006/math">
                              <m:oMathParaPr>
                                <m:jc m:val="centerGroup"/>
                              </m:oMathParaPr>
                              <m:oMath xmlns:m="http://schemas.openxmlformats.org/officeDocument/2006/math">
                                <m:sSub>
                                  <m:sSubPr>
                                    <m:ctrlPr>
                                      <a:rPr lang="en-US" sz="1600" i="1" kern="100">
                                        <a:solidFill>
                                          <a:srgbClr val="000000"/>
                                        </a:solidFill>
                                        <a:effectLst/>
                                        <a:latin typeface="Cambria Math" panose="02040503050406030204" pitchFamily="18" charset="0"/>
                                        <a:ea typeface="Times New Roman" panose="02020603050405020304" pitchFamily="18" charset="0"/>
                                      </a:rPr>
                                    </m:ctrlPr>
                                  </m:sSubPr>
                                  <m:e>
                                    <m:r>
                                      <a:rPr lang="en-US" sz="1600" i="1" kern="100">
                                        <a:solidFill>
                                          <a:srgbClr val="000000"/>
                                        </a:solidFill>
                                        <a:effectLst/>
                                        <a:latin typeface="Cambria Math" panose="02040503050406030204" pitchFamily="18" charset="0"/>
                                        <a:ea typeface="Times New Roman" panose="02020603050405020304" pitchFamily="18" charset="0"/>
                                      </a:rPr>
                                      <m:t>𝛼</m:t>
                                    </m:r>
                                  </m:e>
                                  <m:sub>
                                    <m:r>
                                      <a:rPr lang="en-US" sz="1600" i="1" kern="100">
                                        <a:solidFill>
                                          <a:srgbClr val="000000"/>
                                        </a:solidFill>
                                        <a:effectLst/>
                                        <a:latin typeface="Cambria Math" panose="02040503050406030204" pitchFamily="18" charset="0"/>
                                        <a:ea typeface="Times New Roman" panose="02020603050405020304" pitchFamily="18" charset="0"/>
                                      </a:rPr>
                                      <m:t>[1:50]</m:t>
                                    </m:r>
                                  </m:sub>
                                </m:sSub>
                              </m:oMath>
                            </m:oMathPara>
                          </a14:m>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1577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4079064467"/>
                      </a:ext>
                    </a:extLst>
                  </a:tr>
                  <a:tr h="518807">
                    <a:tc gridSpan="5">
                      <a:txBody>
                        <a:bodyPr/>
                        <a:lstStyle/>
                        <a:p>
                          <a:pPr algn="ctr">
                            <a:lnSpc>
                              <a:spcPct val="115000"/>
                            </a:lnSpc>
                            <a:buNone/>
                          </a:pPr>
                          <a:r>
                            <a:rPr lang="en-US" sz="1600" i="1" kern="100" dirty="0">
                              <a:solidFill>
                                <a:srgbClr val="000000"/>
                              </a:solidFill>
                              <a:effectLst/>
                              <a:latin typeface="Times New Roman" panose="02020603050405020304" pitchFamily="18" charset="0"/>
                              <a:ea typeface="Times New Roman" panose="02020603050405020304" pitchFamily="18" charset="0"/>
                            </a:rPr>
                            <a:t>Note:</a:t>
                          </a:r>
                          <a:r>
                            <a:rPr lang="en-US" sz="1600" kern="100" dirty="0">
                              <a:solidFill>
                                <a:srgbClr val="000000"/>
                              </a:solidFill>
                              <a:effectLst/>
                              <a:latin typeface="Times New Roman" panose="02020603050405020304" pitchFamily="18" charset="0"/>
                              <a:ea typeface="Times New Roman" panose="02020603050405020304" pitchFamily="18" charset="0"/>
                            </a:rPr>
                            <a:t> For </a:t>
                          </a:r>
                          <a14:m>
                            <m:oMath xmlns:m="http://schemas.openxmlformats.org/officeDocument/2006/math">
                              <m:sSub>
                                <m:sSubPr>
                                  <m:ctrlPr>
                                    <a:rPr lang="en-US" sz="1600" b="0" i="1" kern="100">
                                      <a:solidFill>
                                        <a:srgbClr val="000000"/>
                                      </a:solidFill>
                                      <a:effectLst/>
                                      <a:latin typeface="Cambria Math" panose="02040503050406030204" pitchFamily="18" charset="0"/>
                                      <a:ea typeface="Times New Roman" panose="02020603050405020304" pitchFamily="18" charset="0"/>
                                    </a:rPr>
                                  </m:ctrlPr>
                                </m:sSubPr>
                                <m:e>
                                  <m:r>
                                    <a:rPr lang="en-US" sz="1600" b="1" i="1" kern="100">
                                      <a:solidFill>
                                        <a:srgbClr val="000000"/>
                                      </a:solidFill>
                                      <a:effectLst/>
                                      <a:latin typeface="Cambria Math" panose="02040503050406030204" pitchFamily="18" charset="0"/>
                                      <a:ea typeface="Times New Roman" panose="02020603050405020304" pitchFamily="18" charset="0"/>
                                    </a:rPr>
                                    <m:t>𝜶</m:t>
                                  </m:r>
                                </m:e>
                                <m:sub>
                                  <m:r>
                                    <a:rPr lang="en-US" sz="1600" b="1" i="1" kern="100">
                                      <a:solidFill>
                                        <a:srgbClr val="000000"/>
                                      </a:solidFill>
                                      <a:effectLst/>
                                      <a:latin typeface="Cambria Math" panose="02040503050406030204" pitchFamily="18" charset="0"/>
                                      <a:ea typeface="Times New Roman" panose="02020603050405020304" pitchFamily="18" charset="0"/>
                                    </a:rPr>
                                    <m:t>[</m:t>
                                  </m:r>
                                  <m:r>
                                    <a:rPr lang="en-US" sz="1600" b="1" i="1" kern="100">
                                      <a:solidFill>
                                        <a:srgbClr val="000000"/>
                                      </a:solidFill>
                                      <a:effectLst/>
                                      <a:latin typeface="Cambria Math" panose="02040503050406030204" pitchFamily="18" charset="0"/>
                                      <a:ea typeface="Times New Roman" panose="02020603050405020304" pitchFamily="18" charset="0"/>
                                    </a:rPr>
                                    <m:t>𝟏</m:t>
                                  </m:r>
                                  <m:r>
                                    <a:rPr lang="en-US" sz="1600" b="1" i="1" kern="100">
                                      <a:solidFill>
                                        <a:srgbClr val="000000"/>
                                      </a:solidFill>
                                      <a:effectLst/>
                                      <a:latin typeface="Cambria Math" panose="02040503050406030204" pitchFamily="18" charset="0"/>
                                      <a:ea typeface="Times New Roman" panose="02020603050405020304" pitchFamily="18" charset="0"/>
                                    </a:rPr>
                                    <m:t>:</m:t>
                                  </m:r>
                                  <m:r>
                                    <a:rPr lang="en-US" sz="1600" b="1" i="1" kern="100">
                                      <a:solidFill>
                                        <a:srgbClr val="000000"/>
                                      </a:solidFill>
                                      <a:effectLst/>
                                      <a:latin typeface="Cambria Math" panose="02040503050406030204" pitchFamily="18" charset="0"/>
                                      <a:ea typeface="Times New Roman" panose="02020603050405020304" pitchFamily="18" charset="0"/>
                                    </a:rPr>
                                    <m:t>𝟓𝟎</m:t>
                                  </m:r>
                                  <m:r>
                                    <a:rPr lang="en-US" sz="1600" b="1" i="1" kern="100">
                                      <a:solidFill>
                                        <a:srgbClr val="000000"/>
                                      </a:solidFill>
                                      <a:effectLst/>
                                      <a:latin typeface="Cambria Math" panose="02040503050406030204" pitchFamily="18" charset="0"/>
                                      <a:ea typeface="Times New Roman" panose="02020603050405020304" pitchFamily="18" charset="0"/>
                                    </a:rPr>
                                    <m:t>]</m:t>
                                  </m:r>
                                </m:sub>
                              </m:sSub>
                            </m:oMath>
                          </a14:m>
                          <a:r>
                            <a:rPr lang="en-US" sz="1600" kern="1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en-US" sz="1600" i="1" kern="100">
                                      <a:effectLst/>
                                      <a:latin typeface="Cambria Math" panose="02040503050406030204" pitchFamily="18" charset="0"/>
                                      <a:ea typeface="Times New Roman" panose="02020603050405020304" pitchFamily="18" charset="0"/>
                                    </a:rPr>
                                  </m:ctrlPr>
                                </m:accPr>
                                <m:e>
                                  <m:r>
                                    <a:rPr lang="en-US" sz="1600" b="1" i="1" kern="100">
                                      <a:effectLst/>
                                      <a:latin typeface="Cambria Math" panose="02040503050406030204" pitchFamily="18" charset="0"/>
                                      <a:ea typeface="Times New Roman" panose="02020603050405020304" pitchFamily="18" charset="0"/>
                                    </a:rPr>
                                    <m:t>𝑹</m:t>
                                  </m:r>
                                </m:e>
                              </m:acc>
                            </m:oMath>
                          </a14:m>
                          <a:r>
                            <a:rPr lang="en-US" sz="1600" kern="100" dirty="0">
                              <a:solidFill>
                                <a:srgbClr val="000000"/>
                              </a:solidFill>
                              <a:effectLst/>
                              <a:latin typeface="Times New Roman" panose="02020603050405020304" pitchFamily="18" charset="0"/>
                              <a:ea typeface="Times New Roman" panose="02020603050405020304" pitchFamily="18" charset="0"/>
                            </a:rPr>
                            <a:t>is the median point estimate and </a:t>
                          </a:r>
                          <a14:m>
                            <m:oMath xmlns:m="http://schemas.openxmlformats.org/officeDocument/2006/math">
                              <m:acc>
                                <m:accPr>
                                  <m:chr m:val="̂"/>
                                  <m:ctrlPr>
                                    <a:rPr lang="en-US" sz="1600" i="1" kern="100">
                                      <a:effectLst/>
                                      <a:latin typeface="Cambria Math" panose="02040503050406030204" pitchFamily="18" charset="0"/>
                                      <a:ea typeface="Times New Roman" panose="02020603050405020304" pitchFamily="18" charset="0"/>
                                    </a:rPr>
                                  </m:ctrlPr>
                                </m:accPr>
                                <m:e>
                                  <m:r>
                                    <a:rPr lang="en-US" sz="1600" b="1" i="1" kern="100">
                                      <a:effectLst/>
                                      <a:latin typeface="Cambria Math" panose="02040503050406030204" pitchFamily="18" charset="0"/>
                                      <a:ea typeface="Times New Roman" panose="02020603050405020304" pitchFamily="18" charset="0"/>
                                    </a:rPr>
                                    <m:t>𝑹</m:t>
                                  </m:r>
                                </m:e>
                              </m:acc>
                            </m:oMath>
                          </a14:m>
                          <a:r>
                            <a:rPr lang="en-US" sz="1600" kern="100" dirty="0">
                              <a:solidFill>
                                <a:srgbClr val="000000"/>
                              </a:solidFill>
                              <a:effectLst/>
                              <a:latin typeface="Times New Roman" panose="02020603050405020304" pitchFamily="18" charset="0"/>
                              <a:ea typeface="Times New Roman" panose="02020603050405020304" pitchFamily="18" charset="0"/>
                            </a:rPr>
                            <a:t> (UCI) is the maximum point estimate across the 50 cluster intercepts; ESS is the median. Rows highlighted indicate R-hat &gt; 1.01 or ESS &lt; 400.</a:t>
                          </a:r>
                          <a:endParaRPr lang="en-US" sz="1600" kern="100" dirty="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88025469"/>
                      </a:ext>
                    </a:extLst>
                  </a:tr>
                </a:tbl>
              </a:graphicData>
            </a:graphic>
          </p:graphicFrame>
        </mc:Choice>
        <mc:Fallback xmlns="">
          <p:graphicFrame>
            <p:nvGraphicFramePr>
              <p:cNvPr id="8" name="Table 7">
                <a:extLst>
                  <a:ext uri="{FF2B5EF4-FFF2-40B4-BE49-F238E27FC236}">
                    <a16:creationId xmlns:a16="http://schemas.microsoft.com/office/drawing/2014/main" id="{C00ECDB2-A637-66F6-BBEE-1BBA75D1C63F}"/>
                  </a:ext>
                </a:extLst>
              </p:cNvPr>
              <p:cNvGraphicFramePr>
                <a:graphicFrameLocks noGrp="1"/>
              </p:cNvGraphicFramePr>
              <p:nvPr>
                <p:extLst>
                  <p:ext uri="{D42A27DB-BD31-4B8C-83A1-F6EECF244321}">
                    <p14:modId xmlns:p14="http://schemas.microsoft.com/office/powerpoint/2010/main" val="83257326"/>
                  </p:ext>
                </p:extLst>
              </p:nvPr>
            </p:nvGraphicFramePr>
            <p:xfrm>
              <a:off x="998002" y="1003300"/>
              <a:ext cx="10195995" cy="5983605"/>
            </p:xfrm>
            <a:graphic>
              <a:graphicData uri="http://schemas.openxmlformats.org/drawingml/2006/table">
                <a:tbl>
                  <a:tblPr firstRow="1" firstCol="1" bandRow="1"/>
                  <a:tblGrid>
                    <a:gridCol w="2039199">
                      <a:extLst>
                        <a:ext uri="{9D8B030D-6E8A-4147-A177-3AD203B41FA5}">
                          <a16:colId xmlns:a16="http://schemas.microsoft.com/office/drawing/2014/main" val="2528658948"/>
                        </a:ext>
                      </a:extLst>
                    </a:gridCol>
                    <a:gridCol w="2039199">
                      <a:extLst>
                        <a:ext uri="{9D8B030D-6E8A-4147-A177-3AD203B41FA5}">
                          <a16:colId xmlns:a16="http://schemas.microsoft.com/office/drawing/2014/main" val="2882830504"/>
                        </a:ext>
                      </a:extLst>
                    </a:gridCol>
                    <a:gridCol w="2039199">
                      <a:extLst>
                        <a:ext uri="{9D8B030D-6E8A-4147-A177-3AD203B41FA5}">
                          <a16:colId xmlns:a16="http://schemas.microsoft.com/office/drawing/2014/main" val="4031674690"/>
                        </a:ext>
                      </a:extLst>
                    </a:gridCol>
                    <a:gridCol w="2039199">
                      <a:extLst>
                        <a:ext uri="{9D8B030D-6E8A-4147-A177-3AD203B41FA5}">
                          <a16:colId xmlns:a16="http://schemas.microsoft.com/office/drawing/2014/main" val="2416925281"/>
                        </a:ext>
                      </a:extLst>
                    </a:gridCol>
                    <a:gridCol w="2039199">
                      <a:extLst>
                        <a:ext uri="{9D8B030D-6E8A-4147-A177-3AD203B41FA5}">
                          <a16:colId xmlns:a16="http://schemas.microsoft.com/office/drawing/2014/main" val="3348992142"/>
                        </a:ext>
                      </a:extLst>
                    </a:gridCol>
                  </a:tblGrid>
                  <a:tr h="28803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Outcome</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Parameter</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blipFill>
                          <a:blip r:embed="rId3"/>
                          <a:stretch>
                            <a:fillRect l="-201875" t="-17391" r="-201875" b="-1995652"/>
                          </a:stretch>
                        </a:blip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blipFill>
                          <a:blip r:embed="rId3"/>
                          <a:stretch>
                            <a:fillRect l="-300000" t="-17391" r="-100621" b="-1995652"/>
                          </a:stretch>
                        </a:blipFill>
                      </a:tcPr>
                    </a:tc>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ESS</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697171581"/>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22727" r="-300000" b="-1986364"/>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4547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3616752296"/>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222727" r="-300000" b="-1886364"/>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5330</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408547168"/>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322727" r="-300000" b="-1786364"/>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1.026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4275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226120826"/>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422727" r="-300000" b="-1686364"/>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1.055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1423</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337166553"/>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522727" r="-300000" b="-1586364"/>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1.043</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481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2936521938"/>
                      </a:ext>
                    </a:extLst>
                  </a:tr>
                  <a:tr h="307848">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Anxiety</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548000" r="-300000" b="-1296000"/>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4682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614074839"/>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736364" r="-300000" b="-137272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2666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115159466"/>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836364" r="-300000" b="-127272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3423</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510519534"/>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936364" r="-300000" b="-117272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3174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597421817"/>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036364" r="-300000" b="-107272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1.024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638</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099314062"/>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136364" r="-300000" b="-97272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1.044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399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3166810984"/>
                      </a:ext>
                    </a:extLst>
                  </a:tr>
                  <a:tr h="307848">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Depression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133333" r="-300000" b="-79166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1.009</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1787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858857828"/>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286957" r="-300000" b="-72608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1.000</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2786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035468422"/>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450000" r="-300000" b="-659091"/>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3197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079046837"/>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550000" r="-300000" b="-559091"/>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3015</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703621081"/>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650000" r="-300000" b="-459091"/>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654</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352465835"/>
                      </a:ext>
                    </a:extLst>
                  </a:tr>
                  <a:tr h="280416">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750000" r="-300000" b="-359091"/>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1.012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1.036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301</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AE2D5"/>
                        </a:solidFill>
                      </a:tcPr>
                    </a:tc>
                    <a:extLst>
                      <a:ext uri="{0D108BD9-81ED-4DB2-BD59-A6C34878D82A}">
                        <a16:rowId xmlns:a16="http://schemas.microsoft.com/office/drawing/2014/main" val="3897958272"/>
                      </a:ext>
                    </a:extLst>
                  </a:tr>
                  <a:tr h="307848">
                    <a:tc>
                      <a:txBody>
                        <a:bodyPr/>
                        <a:lstStyle/>
                        <a:p>
                          <a:pPr algn="ctr">
                            <a:lnSpc>
                              <a:spcPct val="115000"/>
                            </a:lnSpc>
                            <a:buNone/>
                          </a:pPr>
                          <a:r>
                            <a:rPr lang="en-US" sz="1600" b="1" kern="100">
                              <a:solidFill>
                                <a:srgbClr val="000000"/>
                              </a:solidFill>
                              <a:effectLst/>
                              <a:latin typeface="Times New Roman" panose="02020603050405020304" pitchFamily="18" charset="0"/>
                              <a:ea typeface="Times New Roman" panose="02020603050405020304" pitchFamily="18" charset="0"/>
                            </a:rPr>
                            <a:t>Emotion</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00621" t="-1695833" r="-300000" b="-229167"/>
                          </a:stretch>
                        </a:blip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1.002</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1.006</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algn="ctr">
                            <a:lnSpc>
                              <a:spcPct val="115000"/>
                            </a:lnSpc>
                            <a:buNone/>
                          </a:pPr>
                          <a:r>
                            <a:rPr lang="en-US" sz="1600" kern="100">
                              <a:solidFill>
                                <a:srgbClr val="000000"/>
                              </a:solidFill>
                              <a:effectLst/>
                              <a:latin typeface="Times New Roman" panose="02020603050405020304" pitchFamily="18" charset="0"/>
                              <a:ea typeface="Times New Roman" panose="02020603050405020304" pitchFamily="18" charset="0"/>
                            </a:rPr>
                            <a:t>1577</a:t>
                          </a:r>
                          <a:endParaRPr lang="en-US" sz="1600" kern="100">
                            <a:effectLst/>
                            <a:latin typeface="Times New Roman" panose="02020603050405020304" pitchFamily="18" charset="0"/>
                            <a:ea typeface="Times New Roman" panose="02020603050405020304" pitchFamily="18" charset="0"/>
                          </a:endParaRPr>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4079064467"/>
                      </a:ext>
                    </a:extLst>
                  </a:tr>
                  <a:tr h="565785">
                    <a:tc gridSpan="5">
                      <a:txBody>
                        <a:bodyPr/>
                        <a:lstStyle/>
                        <a:p>
                          <a:endParaRPr lang="en-US"/>
                        </a:p>
                      </a:txBody>
                      <a:tcPr marL="66496" marR="66496"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blipFill>
                          <a:blip r:embed="rId3"/>
                          <a:stretch>
                            <a:fillRect l="-124" t="-957778" r="-124" b="-22222"/>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88025469"/>
                      </a:ext>
                    </a:extLst>
                  </a:tr>
                </a:tbl>
              </a:graphicData>
            </a:graphic>
          </p:graphicFrame>
        </mc:Fallback>
      </mc:AlternateContent>
    </p:spTree>
    <p:extLst>
      <p:ext uri="{BB962C8B-B14F-4D97-AF65-F5344CB8AC3E}">
        <p14:creationId xmlns:p14="http://schemas.microsoft.com/office/powerpoint/2010/main" val="491175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8A62-BD49-26A2-1684-4393E4A625D0}"/>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E45F74B2-82C6-6CF2-CA14-F6CBD9DBF18A}"/>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Diagnostics (2)</a:t>
            </a:r>
          </a:p>
        </p:txBody>
      </p:sp>
      <p:pic>
        <p:nvPicPr>
          <p:cNvPr id="9" name="Picture 8">
            <a:extLst>
              <a:ext uri="{FF2B5EF4-FFF2-40B4-BE49-F238E27FC236}">
                <a16:creationId xmlns:a16="http://schemas.microsoft.com/office/drawing/2014/main" id="{9502AD2B-780D-1D01-618D-8C4C5513B43D}"/>
              </a:ext>
            </a:extLst>
          </p:cNvPr>
          <p:cNvPicPr>
            <a:picLocks noChangeAspect="1"/>
          </p:cNvPicPr>
          <p:nvPr/>
        </p:nvPicPr>
        <p:blipFill>
          <a:blip r:embed="rId4"/>
          <a:stretch>
            <a:fillRect/>
          </a:stretch>
        </p:blipFill>
        <p:spPr>
          <a:xfrm>
            <a:off x="792652" y="1346974"/>
            <a:ext cx="10606697" cy="5020580"/>
          </a:xfrm>
          <a:prstGeom prst="rect">
            <a:avLst/>
          </a:prstGeom>
        </p:spPr>
      </p:pic>
    </p:spTree>
    <p:extLst>
      <p:ext uri="{BB962C8B-B14F-4D97-AF65-F5344CB8AC3E}">
        <p14:creationId xmlns:p14="http://schemas.microsoft.com/office/powerpoint/2010/main" val="299381364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E18B4-242C-F5C3-49EA-7AA26D3B0B39}"/>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FE6C0340-CFBF-F52E-072E-24D3DAD9160C}"/>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Findings (1): APD</a:t>
            </a:r>
          </a:p>
        </p:txBody>
      </p:sp>
      <p:pic>
        <p:nvPicPr>
          <p:cNvPr id="3" name="Picture 2">
            <a:extLst>
              <a:ext uri="{FF2B5EF4-FFF2-40B4-BE49-F238E27FC236}">
                <a16:creationId xmlns:a16="http://schemas.microsoft.com/office/drawing/2014/main" id="{E9FD5B3C-B3DA-A47C-6ED1-6BC3502EC1C6}"/>
              </a:ext>
            </a:extLst>
          </p:cNvPr>
          <p:cNvPicPr>
            <a:picLocks noChangeAspect="1"/>
          </p:cNvPicPr>
          <p:nvPr/>
        </p:nvPicPr>
        <p:blipFill>
          <a:blip r:embed="rId4"/>
          <a:stretch>
            <a:fillRect/>
          </a:stretch>
        </p:blipFill>
        <p:spPr>
          <a:xfrm>
            <a:off x="620261" y="1003300"/>
            <a:ext cx="10951478" cy="4213277"/>
          </a:xfrm>
          <a:prstGeom prst="rect">
            <a:avLst/>
          </a:prstGeom>
        </p:spPr>
      </p:pic>
      <p:sp>
        <p:nvSpPr>
          <p:cNvPr id="4" name="Bottom Line">
            <a:extLst>
              <a:ext uri="{FF2B5EF4-FFF2-40B4-BE49-F238E27FC236}">
                <a16:creationId xmlns:a16="http://schemas.microsoft.com/office/drawing/2014/main" id="{5CFA405E-2F64-73EF-7426-40B63EB429D9}"/>
              </a:ext>
            </a:extLst>
          </p:cNvPr>
          <p:cNvSpPr txBox="1"/>
          <p:nvPr/>
        </p:nvSpPr>
        <p:spPr>
          <a:xfrm>
            <a:off x="586561" y="5330877"/>
            <a:ext cx="10970439" cy="1351598"/>
          </a:xfrm>
          <a:prstGeom prst="rect">
            <a:avLst/>
          </a:prstGeom>
          <a:solidFill>
            <a:srgbClr val="F7F4ED"/>
          </a:solidFill>
        </p:spPr>
        <p:txBody>
          <a:bodyPr vertOverflow="overflow" wrap="square" lIns="182880" tIns="137160" rIns="182880" bIns="137160" rtlCol="0" anchor="t">
            <a:noAutofit/>
          </a:bodyPr>
          <a:lstStyle/>
          <a:p>
            <a:pPr algn="l">
              <a:buNone/>
            </a:pPr>
            <a:r>
              <a:rPr lang="en-US" sz="1600" b="1" dirty="0">
                <a:solidFill>
                  <a:srgbClr val="4B2E83"/>
                </a:solidFill>
              </a:rPr>
              <a:t>Bottom line</a:t>
            </a:r>
          </a:p>
          <a:p>
            <a:pPr algn="l">
              <a:lnSpc>
                <a:spcPts val="2000"/>
              </a:lnSpc>
              <a:spcBef>
                <a:spcPts val="300"/>
              </a:spcBef>
              <a:buNone/>
            </a:pPr>
            <a:r>
              <a:rPr lang="en-US" sz="1500" dirty="0">
                <a:solidFill>
                  <a:srgbClr val="FF0000"/>
                </a:solidFill>
              </a:rPr>
              <a:t>Evidence favors a practically small effect, but does not meet our 95% ROPE threshold for declaring practical equivalence. The data are more consistent with a practically plausible negligible effect than with a large one (unlikely).</a:t>
            </a:r>
          </a:p>
        </p:txBody>
      </p:sp>
    </p:spTree>
    <p:extLst>
      <p:ext uri="{BB962C8B-B14F-4D97-AF65-F5344CB8AC3E}">
        <p14:creationId xmlns:p14="http://schemas.microsoft.com/office/powerpoint/2010/main" val="18281539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310B846-28D7-E6B8-DB72-1C9FFAB95016}"/>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More on model comparison</a:t>
            </a:r>
          </a:p>
        </p:txBody>
      </p:sp>
    </p:spTree>
    <p:extLst>
      <p:ext uri="{BB962C8B-B14F-4D97-AF65-F5344CB8AC3E}">
        <p14:creationId xmlns:p14="http://schemas.microsoft.com/office/powerpoint/2010/main" val="692509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3C46-E878-C876-C418-CCBE52904EC9}"/>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3EEAABD3-8CCC-ECCB-D578-45B45A6195D9}"/>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Findings (2): Between-Cluster Variance</a:t>
            </a:r>
          </a:p>
        </p:txBody>
      </p:sp>
      <p:pic>
        <p:nvPicPr>
          <p:cNvPr id="5" name="Picture 4">
            <a:extLst>
              <a:ext uri="{FF2B5EF4-FFF2-40B4-BE49-F238E27FC236}">
                <a16:creationId xmlns:a16="http://schemas.microsoft.com/office/drawing/2014/main" id="{57BAF558-B2C6-526A-C8B8-26D3903E92D8}"/>
              </a:ext>
            </a:extLst>
          </p:cNvPr>
          <p:cNvPicPr>
            <a:picLocks noChangeAspect="1"/>
          </p:cNvPicPr>
          <p:nvPr/>
        </p:nvPicPr>
        <p:blipFill>
          <a:blip r:embed="rId3"/>
          <a:stretch>
            <a:fillRect/>
          </a:stretch>
        </p:blipFill>
        <p:spPr>
          <a:xfrm>
            <a:off x="561527" y="1419686"/>
            <a:ext cx="11068946" cy="4258469"/>
          </a:xfrm>
          <a:prstGeom prst="rect">
            <a:avLst/>
          </a:prstGeom>
        </p:spPr>
      </p:pic>
    </p:spTree>
    <p:extLst>
      <p:ext uri="{BB962C8B-B14F-4D97-AF65-F5344CB8AC3E}">
        <p14:creationId xmlns:p14="http://schemas.microsoft.com/office/powerpoint/2010/main" val="1269558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04BE5-F363-EF69-B3AB-6315502C922E}"/>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CB880E71-DD5C-CE40-1D17-C1B670F28215}"/>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Posterior Predictive Check</a:t>
            </a:r>
          </a:p>
        </p:txBody>
      </p:sp>
      <p:pic>
        <p:nvPicPr>
          <p:cNvPr id="3" name="Picture 2">
            <a:extLst>
              <a:ext uri="{FF2B5EF4-FFF2-40B4-BE49-F238E27FC236}">
                <a16:creationId xmlns:a16="http://schemas.microsoft.com/office/drawing/2014/main" id="{4E7BB43C-6B3D-3057-D026-7BD7CAFB77C4}"/>
              </a:ext>
            </a:extLst>
          </p:cNvPr>
          <p:cNvPicPr>
            <a:picLocks noChangeAspect="1"/>
          </p:cNvPicPr>
          <p:nvPr/>
        </p:nvPicPr>
        <p:blipFill>
          <a:blip r:embed="rId3"/>
          <a:stretch>
            <a:fillRect/>
          </a:stretch>
        </p:blipFill>
        <p:spPr>
          <a:xfrm>
            <a:off x="901700" y="1224622"/>
            <a:ext cx="10471444" cy="4528676"/>
          </a:xfrm>
          <a:prstGeom prst="rect">
            <a:avLst/>
          </a:prstGeom>
        </p:spPr>
      </p:pic>
    </p:spTree>
    <p:extLst>
      <p:ext uri="{BB962C8B-B14F-4D97-AF65-F5344CB8AC3E}">
        <p14:creationId xmlns:p14="http://schemas.microsoft.com/office/powerpoint/2010/main" val="68979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F7DEA-402C-1203-AC76-8FF64F6CCF92}"/>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FFEA583B-BDD0-AC8B-2D77-2DC326D6C646}"/>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Caveats and Sensitivity</a:t>
            </a:r>
          </a:p>
        </p:txBody>
      </p:sp>
      <p:pic>
        <p:nvPicPr>
          <p:cNvPr id="4" name="Picture 3">
            <a:extLst>
              <a:ext uri="{FF2B5EF4-FFF2-40B4-BE49-F238E27FC236}">
                <a16:creationId xmlns:a16="http://schemas.microsoft.com/office/drawing/2014/main" id="{9E839D0B-C9D2-8480-25C3-18A6183EC3A5}"/>
              </a:ext>
            </a:extLst>
          </p:cNvPr>
          <p:cNvPicPr>
            <a:picLocks noChangeAspect="1"/>
          </p:cNvPicPr>
          <p:nvPr/>
        </p:nvPicPr>
        <p:blipFill>
          <a:blip r:embed="rId3"/>
          <a:stretch>
            <a:fillRect/>
          </a:stretch>
        </p:blipFill>
        <p:spPr>
          <a:xfrm>
            <a:off x="1360081" y="1172942"/>
            <a:ext cx="9471837" cy="5146770"/>
          </a:xfrm>
          <a:prstGeom prst="rect">
            <a:avLst/>
          </a:prstGeom>
        </p:spPr>
      </p:pic>
    </p:spTree>
    <p:extLst>
      <p:ext uri="{BB962C8B-B14F-4D97-AF65-F5344CB8AC3E}">
        <p14:creationId xmlns:p14="http://schemas.microsoft.com/office/powerpoint/2010/main" val="951049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7C475-75BD-1141-CFC2-AD5A20C61941}"/>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B991E67C-A07C-B3B4-B2D2-3A190AC7005A}"/>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4B2E83"/>
                </a:solidFill>
              </a:rPr>
              <a:t>Future Directions</a:t>
            </a:r>
          </a:p>
        </p:txBody>
      </p:sp>
      <p:sp>
        <p:nvSpPr>
          <p:cNvPr id="3" name="TextBox 2">
            <a:extLst>
              <a:ext uri="{FF2B5EF4-FFF2-40B4-BE49-F238E27FC236}">
                <a16:creationId xmlns:a16="http://schemas.microsoft.com/office/drawing/2014/main" id="{6609E2E2-4B27-474C-9B74-AABC8F6D7B95}"/>
              </a:ext>
            </a:extLst>
          </p:cNvPr>
          <p:cNvSpPr txBox="1"/>
          <p:nvPr/>
        </p:nvSpPr>
        <p:spPr>
          <a:xfrm>
            <a:off x="635000" y="1143000"/>
            <a:ext cx="10922000" cy="355600"/>
          </a:xfrm>
          <a:prstGeom prst="rect">
            <a:avLst/>
          </a:prstGeom>
          <a:noFill/>
        </p:spPr>
        <p:txBody>
          <a:bodyPr vertOverflow="overflow" vert="horz" wrap="square" rtlCol="0" anchor="t">
            <a:noAutofit/>
          </a:bodyPr>
          <a:lstStyle/>
          <a:p>
            <a:pPr algn="l"/>
            <a:r>
              <a:rPr lang="en-US" sz="2200" i="1" dirty="0">
                <a:solidFill>
                  <a:srgbClr val="6B5A8A"/>
                </a:solidFill>
              </a:rPr>
              <a:t>If we had another quarter…</a:t>
            </a:r>
          </a:p>
        </p:txBody>
      </p:sp>
      <p:sp>
        <p:nvSpPr>
          <p:cNvPr id="4" name="Card0">
            <a:extLst>
              <a:ext uri="{FF2B5EF4-FFF2-40B4-BE49-F238E27FC236}">
                <a16:creationId xmlns:a16="http://schemas.microsoft.com/office/drawing/2014/main" id="{5C28F8B5-3632-D34D-BCB9-38444A49FA79}"/>
              </a:ext>
            </a:extLst>
          </p:cNvPr>
          <p:cNvSpPr/>
          <p:nvPr/>
        </p:nvSpPr>
        <p:spPr>
          <a:xfrm>
            <a:off x="635000" y="1714500"/>
            <a:ext cx="3556000" cy="4356516"/>
          </a:xfrm>
          <a:prstGeom prst="rect">
            <a:avLst/>
          </a:prstGeom>
          <a:solidFill>
            <a:srgbClr val="F4F0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BDE0391B-5F22-844B-A372-707B6D24225B}"/>
              </a:ext>
            </a:extLst>
          </p:cNvPr>
          <p:cNvSpPr/>
          <p:nvPr/>
        </p:nvSpPr>
        <p:spPr>
          <a:xfrm>
            <a:off x="2133600" y="1985259"/>
            <a:ext cx="558800" cy="5588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dirty="0">
                <a:solidFill>
                  <a:srgbClr val="FFFFFF"/>
                </a:solidFill>
              </a:rPr>
              <a:t>1</a:t>
            </a:r>
          </a:p>
        </p:txBody>
      </p:sp>
      <p:sp>
        <p:nvSpPr>
          <p:cNvPr id="6" name="TextBox 5">
            <a:extLst>
              <a:ext uri="{FF2B5EF4-FFF2-40B4-BE49-F238E27FC236}">
                <a16:creationId xmlns:a16="http://schemas.microsoft.com/office/drawing/2014/main" id="{C3931512-4D7E-CD4F-97FE-4EAA91E981DA}"/>
              </a:ext>
            </a:extLst>
          </p:cNvPr>
          <p:cNvSpPr txBox="1"/>
          <p:nvPr/>
        </p:nvSpPr>
        <p:spPr>
          <a:xfrm>
            <a:off x="1270000" y="2814818"/>
            <a:ext cx="2286000" cy="762000"/>
          </a:xfrm>
          <a:prstGeom prst="rect">
            <a:avLst/>
          </a:prstGeom>
          <a:noFill/>
        </p:spPr>
        <p:txBody>
          <a:bodyPr vertOverflow="overflow" vert="horz" wrap="square" rtlCol="0" anchor="ctr">
            <a:noAutofit/>
          </a:bodyPr>
          <a:lstStyle/>
          <a:p>
            <a:pPr algn="ctr"/>
            <a:r>
              <a:rPr lang="en-US" sz="2200" b="1" dirty="0">
                <a:solidFill>
                  <a:srgbClr val="4B2E83"/>
                </a:solidFill>
              </a:rPr>
              <a:t>Refit in Stan via brms</a:t>
            </a:r>
          </a:p>
        </p:txBody>
      </p:sp>
      <p:sp>
        <p:nvSpPr>
          <p:cNvPr id="7" name="Body0">
            <a:extLst>
              <a:ext uri="{FF2B5EF4-FFF2-40B4-BE49-F238E27FC236}">
                <a16:creationId xmlns:a16="http://schemas.microsoft.com/office/drawing/2014/main" id="{72A1C05C-7931-4745-B497-7B9C3AFCF841}"/>
              </a:ext>
            </a:extLst>
          </p:cNvPr>
          <p:cNvSpPr txBox="1"/>
          <p:nvPr/>
        </p:nvSpPr>
        <p:spPr>
          <a:xfrm>
            <a:off x="889000" y="3838937"/>
            <a:ext cx="3048000" cy="1568972"/>
          </a:xfrm>
          <a:prstGeom prst="rect">
            <a:avLst/>
          </a:prstGeom>
          <a:noFill/>
        </p:spPr>
        <p:txBody>
          <a:bodyPr vertOverflow="overflow" vert="horz" wrap="square" lIns="91440" tIns="45720" rIns="91440" bIns="45720" rtlCol="0" anchor="ctr">
            <a:noAutofit/>
          </a:bodyPr>
          <a:lstStyle/>
          <a:p>
            <a:pPr algn="ctr">
              <a:spcAft>
                <a:spcPts val="500"/>
              </a:spcAft>
              <a:buNone/>
            </a:pPr>
            <a:r>
              <a:rPr lang="en-US" sz="2000" dirty="0">
                <a:solidFill>
                  <a:srgbClr val="1F1235"/>
                </a:solidFill>
              </a:rPr>
              <a:t>Refit current models in Stan via brms (HMC instead of Gibbs).</a:t>
            </a:r>
          </a:p>
        </p:txBody>
      </p:sp>
      <p:sp>
        <p:nvSpPr>
          <p:cNvPr id="8" name="Card1">
            <a:extLst>
              <a:ext uri="{FF2B5EF4-FFF2-40B4-BE49-F238E27FC236}">
                <a16:creationId xmlns:a16="http://schemas.microsoft.com/office/drawing/2014/main" id="{B23D3954-B725-8644-A0D1-6905A991DEBB}"/>
              </a:ext>
            </a:extLst>
          </p:cNvPr>
          <p:cNvSpPr/>
          <p:nvPr/>
        </p:nvSpPr>
        <p:spPr>
          <a:xfrm>
            <a:off x="4381500" y="1714499"/>
            <a:ext cx="3556000" cy="4356515"/>
          </a:xfrm>
          <a:prstGeom prst="rect">
            <a:avLst/>
          </a:prstGeom>
          <a:solidFill>
            <a:srgbClr val="F4F0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61CA9F53-96B7-4A43-85F7-CE012BFAD70D}"/>
              </a:ext>
            </a:extLst>
          </p:cNvPr>
          <p:cNvSpPr/>
          <p:nvPr/>
        </p:nvSpPr>
        <p:spPr>
          <a:xfrm>
            <a:off x="5880100" y="1985259"/>
            <a:ext cx="558800" cy="5588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a:solidFill>
                  <a:srgbClr val="FFFFFF"/>
                </a:solidFill>
              </a:rPr>
              <a:t>2</a:t>
            </a:r>
          </a:p>
        </p:txBody>
      </p:sp>
      <p:sp>
        <p:nvSpPr>
          <p:cNvPr id="10" name="TextBox 9">
            <a:extLst>
              <a:ext uri="{FF2B5EF4-FFF2-40B4-BE49-F238E27FC236}">
                <a16:creationId xmlns:a16="http://schemas.microsoft.com/office/drawing/2014/main" id="{E3BDFD80-73AA-814E-BC1F-FC567A02C3FC}"/>
              </a:ext>
            </a:extLst>
          </p:cNvPr>
          <p:cNvSpPr txBox="1"/>
          <p:nvPr/>
        </p:nvSpPr>
        <p:spPr>
          <a:xfrm>
            <a:off x="5086350" y="2814818"/>
            <a:ext cx="2286000" cy="762000"/>
          </a:xfrm>
          <a:prstGeom prst="rect">
            <a:avLst/>
          </a:prstGeom>
          <a:noFill/>
        </p:spPr>
        <p:txBody>
          <a:bodyPr vertOverflow="overflow" vert="horz" wrap="square" rtlCol="0" anchor="ctr">
            <a:noAutofit/>
          </a:bodyPr>
          <a:lstStyle/>
          <a:p>
            <a:pPr algn="ctr"/>
            <a:r>
              <a:rPr lang="en-US" sz="2200" b="1" dirty="0">
                <a:solidFill>
                  <a:srgbClr val="4B2E83"/>
                </a:solidFill>
              </a:rPr>
              <a:t>Three-level model</a:t>
            </a:r>
          </a:p>
        </p:txBody>
      </p:sp>
      <p:sp>
        <p:nvSpPr>
          <p:cNvPr id="11" name="Body1">
            <a:extLst>
              <a:ext uri="{FF2B5EF4-FFF2-40B4-BE49-F238E27FC236}">
                <a16:creationId xmlns:a16="http://schemas.microsoft.com/office/drawing/2014/main" id="{3FF5D0C6-47B2-4143-B77F-F3009AC5D232}"/>
              </a:ext>
            </a:extLst>
          </p:cNvPr>
          <p:cNvSpPr txBox="1"/>
          <p:nvPr/>
        </p:nvSpPr>
        <p:spPr>
          <a:xfrm>
            <a:off x="4635500" y="3838936"/>
            <a:ext cx="3048000" cy="1568973"/>
          </a:xfrm>
          <a:prstGeom prst="rect">
            <a:avLst/>
          </a:prstGeom>
          <a:noFill/>
        </p:spPr>
        <p:txBody>
          <a:bodyPr vertOverflow="overflow" vert="horz" wrap="square" lIns="91440" tIns="45720" rIns="91440" bIns="45720" rtlCol="0" anchor="ctr">
            <a:noAutofit/>
          </a:bodyPr>
          <a:lstStyle/>
          <a:p>
            <a:pPr algn="ctr">
              <a:spcAft>
                <a:spcPts val="500"/>
              </a:spcAft>
              <a:buNone/>
            </a:pPr>
            <a:r>
              <a:rPr lang="en-US" sz="2000" dirty="0">
                <a:solidFill>
                  <a:srgbClr val="1F1235"/>
                </a:solidFill>
              </a:rPr>
              <a:t>Extend to a three-level model treating </a:t>
            </a:r>
            <a:r>
              <a:rPr lang="en-US" sz="2000" b="1" dirty="0">
                <a:solidFill>
                  <a:srgbClr val="1F1235"/>
                </a:solidFill>
              </a:rPr>
              <a:t>woredas as a random level</a:t>
            </a:r>
            <a:r>
              <a:rPr lang="en-US" sz="2000" dirty="0">
                <a:solidFill>
                  <a:srgbClr val="1F1235"/>
                </a:solidFill>
              </a:rPr>
              <a:t> rather than fixed effects.</a:t>
            </a:r>
          </a:p>
        </p:txBody>
      </p:sp>
      <p:sp>
        <p:nvSpPr>
          <p:cNvPr id="12" name="Card2">
            <a:extLst>
              <a:ext uri="{FF2B5EF4-FFF2-40B4-BE49-F238E27FC236}">
                <a16:creationId xmlns:a16="http://schemas.microsoft.com/office/drawing/2014/main" id="{E133BDDD-8917-C446-BF20-70324F0DEE68}"/>
              </a:ext>
            </a:extLst>
          </p:cNvPr>
          <p:cNvSpPr/>
          <p:nvPr/>
        </p:nvSpPr>
        <p:spPr>
          <a:xfrm>
            <a:off x="8128000" y="1714500"/>
            <a:ext cx="3556000" cy="4356514"/>
          </a:xfrm>
          <a:prstGeom prst="rect">
            <a:avLst/>
          </a:prstGeom>
          <a:solidFill>
            <a:srgbClr val="F4F0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CEE7507C-9160-6546-AE42-8935925B4687}"/>
              </a:ext>
            </a:extLst>
          </p:cNvPr>
          <p:cNvSpPr/>
          <p:nvPr/>
        </p:nvSpPr>
        <p:spPr>
          <a:xfrm>
            <a:off x="9626600" y="1985259"/>
            <a:ext cx="558800" cy="5588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a:solidFill>
                  <a:srgbClr val="FFFFFF"/>
                </a:solidFill>
              </a:rPr>
              <a:t>3</a:t>
            </a:r>
          </a:p>
        </p:txBody>
      </p:sp>
      <p:sp>
        <p:nvSpPr>
          <p:cNvPr id="14" name="TextBox 13">
            <a:extLst>
              <a:ext uri="{FF2B5EF4-FFF2-40B4-BE49-F238E27FC236}">
                <a16:creationId xmlns:a16="http://schemas.microsoft.com/office/drawing/2014/main" id="{1C342E0F-88DF-8040-B1D6-AF92849B807C}"/>
              </a:ext>
            </a:extLst>
          </p:cNvPr>
          <p:cNvSpPr txBox="1"/>
          <p:nvPr/>
        </p:nvSpPr>
        <p:spPr>
          <a:xfrm>
            <a:off x="8763000" y="2814818"/>
            <a:ext cx="2286000" cy="762000"/>
          </a:xfrm>
          <a:prstGeom prst="rect">
            <a:avLst/>
          </a:prstGeom>
          <a:noFill/>
        </p:spPr>
        <p:txBody>
          <a:bodyPr vertOverflow="overflow" vert="horz" wrap="square" rtlCol="0" anchor="ctr">
            <a:noAutofit/>
          </a:bodyPr>
          <a:lstStyle/>
          <a:p>
            <a:pPr algn="ctr"/>
            <a:r>
              <a:rPr lang="en-US" sz="2200" b="1" dirty="0">
                <a:solidFill>
                  <a:srgbClr val="4B2E83"/>
                </a:solidFill>
              </a:rPr>
              <a:t>Varying-slopes by woreda</a:t>
            </a:r>
          </a:p>
        </p:txBody>
      </p:sp>
      <p:sp>
        <p:nvSpPr>
          <p:cNvPr id="15" name="Body2">
            <a:extLst>
              <a:ext uri="{FF2B5EF4-FFF2-40B4-BE49-F238E27FC236}">
                <a16:creationId xmlns:a16="http://schemas.microsoft.com/office/drawing/2014/main" id="{D533B5CF-EB78-1841-B936-EA22B57E1616}"/>
              </a:ext>
            </a:extLst>
          </p:cNvPr>
          <p:cNvSpPr txBox="1"/>
          <p:nvPr/>
        </p:nvSpPr>
        <p:spPr>
          <a:xfrm>
            <a:off x="8382000" y="3838936"/>
            <a:ext cx="3048000" cy="1568973"/>
          </a:xfrm>
          <a:prstGeom prst="rect">
            <a:avLst/>
          </a:prstGeom>
          <a:noFill/>
        </p:spPr>
        <p:txBody>
          <a:bodyPr vertOverflow="overflow" vert="horz" wrap="square" lIns="91440" tIns="45720" rIns="91440" bIns="45720" rtlCol="0" anchor="t">
            <a:noAutofit/>
          </a:bodyPr>
          <a:lstStyle/>
          <a:p>
            <a:pPr>
              <a:spcAft>
                <a:spcPts val="200"/>
              </a:spcAft>
              <a:buNone/>
            </a:pPr>
            <a:endParaRPr lang="en-US" sz="2000" dirty="0">
              <a:solidFill>
                <a:srgbClr val="1F1235"/>
              </a:solidFill>
            </a:endParaRPr>
          </a:p>
          <a:p>
            <a:pPr algn="ctr">
              <a:spcAft>
                <a:spcPts val="200"/>
              </a:spcAft>
              <a:buNone/>
            </a:pPr>
            <a:r>
              <a:rPr lang="en-US" sz="2000" dirty="0">
                <a:solidFill>
                  <a:srgbClr val="1F1235"/>
                </a:solidFill>
              </a:rPr>
              <a:t>Fit a </a:t>
            </a:r>
            <a:r>
              <a:rPr lang="en-US" sz="2000" b="1" dirty="0">
                <a:solidFill>
                  <a:srgbClr val="1F1235"/>
                </a:solidFill>
              </a:rPr>
              <a:t>varying-slopes model</a:t>
            </a:r>
            <a:r>
              <a:rPr lang="en-US" sz="2000" dirty="0">
                <a:solidFill>
                  <a:srgbClr val="1F1235"/>
                </a:solidFill>
              </a:rPr>
              <a:t> — treatment effect free to differ across woredas.</a:t>
            </a:r>
          </a:p>
        </p:txBody>
      </p:sp>
    </p:spTree>
    <p:extLst>
      <p:ext uri="{BB962C8B-B14F-4D97-AF65-F5344CB8AC3E}">
        <p14:creationId xmlns:p14="http://schemas.microsoft.com/office/powerpoint/2010/main" val="2276927218"/>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7C475-75BD-1141-CFC2-AD5A20C61941}"/>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B991E67C-A07C-B3B4-B2D2-3A190AC7005A}"/>
              </a:ext>
            </a:extLst>
          </p:cNvPr>
          <p:cNvSpPr txBox="1"/>
          <p:nvPr/>
        </p:nvSpPr>
        <p:spPr>
          <a:xfrm>
            <a:off x="901700" y="368300"/>
            <a:ext cx="10655300" cy="635000"/>
          </a:xfrm>
          <a:prstGeom prst="rect">
            <a:avLst/>
          </a:prstGeom>
          <a:noFill/>
        </p:spPr>
        <p:txBody>
          <a:bodyPr vertOverflow="overflow" vert="horz" wrap="square" rtlCol="0" anchor="t">
            <a:noAutofit/>
          </a:bodyPr>
          <a:lstStyle/>
          <a:p>
            <a:pPr algn="l"/>
            <a:r>
              <a:rPr lang="en-US" sz="3200" b="1" dirty="0">
                <a:solidFill>
                  <a:srgbClr val="FF0000"/>
                </a:solidFill>
              </a:rPr>
              <a:t>Summary</a:t>
            </a:r>
          </a:p>
        </p:txBody>
      </p:sp>
      <p:sp>
        <p:nvSpPr>
          <p:cNvPr id="3" name="TextBox 2">
            <a:extLst>
              <a:ext uri="{FF2B5EF4-FFF2-40B4-BE49-F238E27FC236}">
                <a16:creationId xmlns:a16="http://schemas.microsoft.com/office/drawing/2014/main" id="{6609E2E2-4B27-474C-9B74-AABC8F6D7B95}"/>
              </a:ext>
            </a:extLst>
          </p:cNvPr>
          <p:cNvSpPr txBox="1"/>
          <p:nvPr/>
        </p:nvSpPr>
        <p:spPr>
          <a:xfrm>
            <a:off x="635000" y="1143000"/>
            <a:ext cx="10922000" cy="355600"/>
          </a:xfrm>
          <a:prstGeom prst="rect">
            <a:avLst/>
          </a:prstGeom>
          <a:noFill/>
        </p:spPr>
        <p:txBody>
          <a:bodyPr vertOverflow="overflow" vert="horz" wrap="square" rtlCol="0" anchor="t">
            <a:noAutofit/>
          </a:bodyPr>
          <a:lstStyle/>
          <a:p>
            <a:pPr algn="l"/>
            <a:r>
              <a:rPr lang="en-US" sz="2200" i="1" dirty="0">
                <a:solidFill>
                  <a:srgbClr val="6B5A8A"/>
                </a:solidFill>
              </a:rPr>
              <a:t>What this Bayesian reanalysis actually tells us</a:t>
            </a:r>
          </a:p>
        </p:txBody>
      </p:sp>
      <p:sp>
        <p:nvSpPr>
          <p:cNvPr id="4" name="Card0">
            <a:extLst>
              <a:ext uri="{FF2B5EF4-FFF2-40B4-BE49-F238E27FC236}">
                <a16:creationId xmlns:a16="http://schemas.microsoft.com/office/drawing/2014/main" id="{5C28F8B5-3632-D34D-BCB9-38444A49FA79}"/>
              </a:ext>
            </a:extLst>
          </p:cNvPr>
          <p:cNvSpPr/>
          <p:nvPr/>
        </p:nvSpPr>
        <p:spPr>
          <a:xfrm>
            <a:off x="635000" y="1714500"/>
            <a:ext cx="3556000" cy="4356516"/>
          </a:xfrm>
          <a:prstGeom prst="rect">
            <a:avLst/>
          </a:prstGeom>
          <a:solidFill>
            <a:srgbClr val="F4F0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BDE0391B-5F22-844B-A372-707B6D24225B}"/>
              </a:ext>
            </a:extLst>
          </p:cNvPr>
          <p:cNvSpPr/>
          <p:nvPr/>
        </p:nvSpPr>
        <p:spPr>
          <a:xfrm>
            <a:off x="2133600" y="1985259"/>
            <a:ext cx="558800" cy="5588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dirty="0">
                <a:solidFill>
                  <a:srgbClr val="FFFFFF"/>
                </a:solidFill>
              </a:rPr>
              <a:t>1</a:t>
            </a:r>
          </a:p>
        </p:txBody>
      </p:sp>
      <p:sp>
        <p:nvSpPr>
          <p:cNvPr id="6" name="TextBox 5">
            <a:extLst>
              <a:ext uri="{FF2B5EF4-FFF2-40B4-BE49-F238E27FC236}">
                <a16:creationId xmlns:a16="http://schemas.microsoft.com/office/drawing/2014/main" id="{C3931512-4D7E-CD4F-97FE-4EAA91E981DA}"/>
              </a:ext>
            </a:extLst>
          </p:cNvPr>
          <p:cNvSpPr txBox="1"/>
          <p:nvPr/>
        </p:nvSpPr>
        <p:spPr>
          <a:xfrm>
            <a:off x="1270000" y="2814818"/>
            <a:ext cx="2286000" cy="762000"/>
          </a:xfrm>
          <a:prstGeom prst="rect">
            <a:avLst/>
          </a:prstGeom>
          <a:noFill/>
        </p:spPr>
        <p:txBody>
          <a:bodyPr vertOverflow="overflow" vert="horz" wrap="square" rtlCol="0" anchor="ctr">
            <a:noAutofit/>
          </a:bodyPr>
          <a:lstStyle/>
          <a:p>
            <a:pPr algn="ctr"/>
            <a:r>
              <a:rPr lang="en-US" sz="2200" b="1" dirty="0">
                <a:solidFill>
                  <a:srgbClr val="4B2E83"/>
                </a:solidFill>
              </a:rPr>
              <a:t>A large effect is unlikely</a:t>
            </a:r>
          </a:p>
        </p:txBody>
      </p:sp>
      <p:sp>
        <p:nvSpPr>
          <p:cNvPr id="7" name="Body0">
            <a:extLst>
              <a:ext uri="{FF2B5EF4-FFF2-40B4-BE49-F238E27FC236}">
                <a16:creationId xmlns:a16="http://schemas.microsoft.com/office/drawing/2014/main" id="{72A1C05C-7931-4745-B497-7B9C3AFCF841}"/>
              </a:ext>
            </a:extLst>
          </p:cNvPr>
          <p:cNvSpPr txBox="1"/>
          <p:nvPr/>
        </p:nvSpPr>
        <p:spPr>
          <a:xfrm>
            <a:off x="889000" y="3838937"/>
            <a:ext cx="3048000" cy="1568972"/>
          </a:xfrm>
          <a:prstGeom prst="rect">
            <a:avLst/>
          </a:prstGeom>
          <a:noFill/>
        </p:spPr>
        <p:txBody>
          <a:bodyPr vertOverflow="overflow" vert="horz" wrap="square" lIns="91440" tIns="45720" rIns="91440" bIns="45720" rtlCol="0" anchor="ctr">
            <a:noAutofit/>
          </a:bodyPr>
          <a:lstStyle/>
          <a:p>
            <a:pPr algn="ctr">
              <a:spcAft>
                <a:spcPts val="500"/>
              </a:spcAft>
              <a:buNone/>
            </a:pPr>
            <a:r>
              <a:rPr lang="en-US" sz="2000" dirty="0">
                <a:solidFill>
                  <a:srgbClr val="1F1235"/>
                </a:solidFill>
              </a:rPr>
              <a:t>Most posterior mass sits inside the plus-or-minus 5-point ROPE for all three outcomes. A large, programmatically meaningful effect is implausible.</a:t>
            </a:r>
          </a:p>
        </p:txBody>
      </p:sp>
      <p:sp>
        <p:nvSpPr>
          <p:cNvPr id="8" name="Card1">
            <a:extLst>
              <a:ext uri="{FF2B5EF4-FFF2-40B4-BE49-F238E27FC236}">
                <a16:creationId xmlns:a16="http://schemas.microsoft.com/office/drawing/2014/main" id="{B23D3954-B725-8644-A0D1-6905A991DEBB}"/>
              </a:ext>
            </a:extLst>
          </p:cNvPr>
          <p:cNvSpPr/>
          <p:nvPr/>
        </p:nvSpPr>
        <p:spPr>
          <a:xfrm>
            <a:off x="4381500" y="1714499"/>
            <a:ext cx="3556000" cy="4356515"/>
          </a:xfrm>
          <a:prstGeom prst="rect">
            <a:avLst/>
          </a:prstGeom>
          <a:solidFill>
            <a:srgbClr val="F4F0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61CA9F53-96B7-4A43-85F7-CE012BFAD70D}"/>
              </a:ext>
            </a:extLst>
          </p:cNvPr>
          <p:cNvSpPr/>
          <p:nvPr/>
        </p:nvSpPr>
        <p:spPr>
          <a:xfrm>
            <a:off x="5880100" y="1985259"/>
            <a:ext cx="558800" cy="5588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a:solidFill>
                  <a:srgbClr val="FFFFFF"/>
                </a:solidFill>
              </a:rPr>
              <a:t>2</a:t>
            </a:r>
          </a:p>
        </p:txBody>
      </p:sp>
      <p:sp>
        <p:nvSpPr>
          <p:cNvPr id="10" name="TextBox 9">
            <a:extLst>
              <a:ext uri="{FF2B5EF4-FFF2-40B4-BE49-F238E27FC236}">
                <a16:creationId xmlns:a16="http://schemas.microsoft.com/office/drawing/2014/main" id="{E3BDFD80-73AA-814E-BC1F-FC567A02C3FC}"/>
              </a:ext>
            </a:extLst>
          </p:cNvPr>
          <p:cNvSpPr txBox="1"/>
          <p:nvPr/>
        </p:nvSpPr>
        <p:spPr>
          <a:xfrm>
            <a:off x="5086350" y="2814818"/>
            <a:ext cx="2286000" cy="762000"/>
          </a:xfrm>
          <a:prstGeom prst="rect">
            <a:avLst/>
          </a:prstGeom>
          <a:noFill/>
        </p:spPr>
        <p:txBody>
          <a:bodyPr vertOverflow="overflow" vert="horz" wrap="square" rtlCol="0" anchor="ctr">
            <a:noAutofit/>
          </a:bodyPr>
          <a:lstStyle/>
          <a:p>
            <a:pPr algn="ctr"/>
            <a:r>
              <a:rPr lang="en-US" sz="2200" b="1" dirty="0">
                <a:solidFill>
                  <a:srgbClr val="FF0000"/>
                </a:solidFill>
              </a:rPr>
              <a:t>But not “no effect”</a:t>
            </a:r>
          </a:p>
        </p:txBody>
      </p:sp>
      <p:sp>
        <p:nvSpPr>
          <p:cNvPr id="11" name="Body1">
            <a:extLst>
              <a:ext uri="{FF2B5EF4-FFF2-40B4-BE49-F238E27FC236}">
                <a16:creationId xmlns:a16="http://schemas.microsoft.com/office/drawing/2014/main" id="{3FF5D0C6-47B2-4143-B77F-F3009AC5D232}"/>
              </a:ext>
            </a:extLst>
          </p:cNvPr>
          <p:cNvSpPr txBox="1"/>
          <p:nvPr/>
        </p:nvSpPr>
        <p:spPr>
          <a:xfrm>
            <a:off x="4635500" y="3838936"/>
            <a:ext cx="3048000" cy="1568973"/>
          </a:xfrm>
          <a:prstGeom prst="rect">
            <a:avLst/>
          </a:prstGeom>
          <a:noFill/>
        </p:spPr>
        <p:txBody>
          <a:bodyPr vertOverflow="overflow" vert="horz" wrap="square" lIns="91440" tIns="45720" rIns="91440" bIns="45720" rtlCol="0" anchor="ctr">
            <a:noAutofit/>
          </a:bodyPr>
          <a:lstStyle/>
          <a:p>
            <a:pPr algn="ctr">
              <a:spcAft>
                <a:spcPts val="500"/>
              </a:spcAft>
              <a:buNone/>
            </a:pPr>
            <a:r>
              <a:rPr lang="en-US" sz="2000" dirty="0">
                <a:solidFill>
                  <a:srgbClr val="1F1235"/>
                </a:solidFill>
              </a:rPr>
              <a:t>Posterior mass inside the ROPE (89% / 87% / 82%) does not reach our 95% threshold. A small benefit remains plausible.</a:t>
            </a:r>
          </a:p>
        </p:txBody>
      </p:sp>
      <p:sp>
        <p:nvSpPr>
          <p:cNvPr id="12" name="Card2">
            <a:extLst>
              <a:ext uri="{FF2B5EF4-FFF2-40B4-BE49-F238E27FC236}">
                <a16:creationId xmlns:a16="http://schemas.microsoft.com/office/drawing/2014/main" id="{E133BDDD-8917-C446-BF20-70324F0DEE68}"/>
              </a:ext>
            </a:extLst>
          </p:cNvPr>
          <p:cNvSpPr/>
          <p:nvPr/>
        </p:nvSpPr>
        <p:spPr>
          <a:xfrm>
            <a:off x="8128000" y="1714500"/>
            <a:ext cx="3556000" cy="4356514"/>
          </a:xfrm>
          <a:prstGeom prst="rect">
            <a:avLst/>
          </a:prstGeom>
          <a:solidFill>
            <a:srgbClr val="F4F0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CEE7507C-9160-6546-AE42-8935925B4687}"/>
              </a:ext>
            </a:extLst>
          </p:cNvPr>
          <p:cNvSpPr/>
          <p:nvPr/>
        </p:nvSpPr>
        <p:spPr>
          <a:xfrm>
            <a:off x="9626600" y="1985259"/>
            <a:ext cx="558800" cy="558800"/>
          </a:xfrm>
          <a:prstGeom prst="ellipse">
            <a:avLst/>
          </a:prstGeom>
          <a:solidFill>
            <a:srgbClr val="4B2E8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2200" b="1">
                <a:solidFill>
                  <a:srgbClr val="FFFFFF"/>
                </a:solidFill>
              </a:rPr>
              <a:t>3</a:t>
            </a:r>
          </a:p>
        </p:txBody>
      </p:sp>
      <p:sp>
        <p:nvSpPr>
          <p:cNvPr id="14" name="TextBox 13">
            <a:extLst>
              <a:ext uri="{FF2B5EF4-FFF2-40B4-BE49-F238E27FC236}">
                <a16:creationId xmlns:a16="http://schemas.microsoft.com/office/drawing/2014/main" id="{1C342E0F-88DF-8040-B1D6-AF92849B807C}"/>
              </a:ext>
            </a:extLst>
          </p:cNvPr>
          <p:cNvSpPr txBox="1"/>
          <p:nvPr/>
        </p:nvSpPr>
        <p:spPr>
          <a:xfrm>
            <a:off x="8763000" y="2814818"/>
            <a:ext cx="2286000" cy="762000"/>
          </a:xfrm>
          <a:prstGeom prst="rect">
            <a:avLst/>
          </a:prstGeom>
          <a:noFill/>
        </p:spPr>
        <p:txBody>
          <a:bodyPr vertOverflow="overflow" vert="horz" wrap="square" rtlCol="0" anchor="ctr">
            <a:noAutofit/>
          </a:bodyPr>
          <a:lstStyle/>
          <a:p>
            <a:pPr algn="ctr"/>
            <a:r>
              <a:rPr lang="en-US" sz="2200" b="1" dirty="0">
                <a:solidFill>
                  <a:srgbClr val="4B2E83"/>
                </a:solidFill>
              </a:rPr>
              <a:t>A more useful answer</a:t>
            </a:r>
          </a:p>
        </p:txBody>
      </p:sp>
      <p:sp>
        <p:nvSpPr>
          <p:cNvPr id="15" name="Body2">
            <a:extLst>
              <a:ext uri="{FF2B5EF4-FFF2-40B4-BE49-F238E27FC236}">
                <a16:creationId xmlns:a16="http://schemas.microsoft.com/office/drawing/2014/main" id="{D533B5CF-EB78-1841-B936-EA22B57E1616}"/>
              </a:ext>
            </a:extLst>
          </p:cNvPr>
          <p:cNvSpPr txBox="1"/>
          <p:nvPr/>
        </p:nvSpPr>
        <p:spPr>
          <a:xfrm>
            <a:off x="8382000" y="3838936"/>
            <a:ext cx="3048000" cy="1568973"/>
          </a:xfrm>
          <a:prstGeom prst="rect">
            <a:avLst/>
          </a:prstGeom>
          <a:noFill/>
        </p:spPr>
        <p:txBody>
          <a:bodyPr vertOverflow="overflow" vert="horz" wrap="square" lIns="91440" tIns="45720" rIns="91440" bIns="45720" rtlCol="0" anchor="t">
            <a:noAutofit/>
          </a:bodyPr>
          <a:lstStyle/>
          <a:p>
            <a:pPr>
              <a:spcAft>
                <a:spcPts val="200"/>
              </a:spcAft>
              <a:buNone/>
            </a:pPr>
            <a:endParaRPr lang="en-US" sz="2000" dirty="0">
              <a:solidFill>
                <a:srgbClr val="1F1235"/>
              </a:solidFill>
            </a:endParaRPr>
          </a:p>
          <a:p>
            <a:pPr algn="ctr">
              <a:spcAft>
                <a:spcPts val="200"/>
              </a:spcAft>
              <a:buNone/>
            </a:pPr>
            <a:r>
              <a:rPr lang="en-US" sz="2000" dirty="0">
                <a:solidFill>
                  <a:srgbClr val="1F1235"/>
                </a:solidFill>
              </a:rPr>
              <a:t>Rather than proving the null, we quantify how much posterior probability lies in a policy-relevant region around zero.</a:t>
            </a:r>
          </a:p>
        </p:txBody>
      </p:sp>
    </p:spTree>
    <p:extLst>
      <p:ext uri="{BB962C8B-B14F-4D97-AF65-F5344CB8AC3E}">
        <p14:creationId xmlns:p14="http://schemas.microsoft.com/office/powerpoint/2010/main" val="1432570674"/>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B5FF04-2058-7B54-7C1E-0C45586E3893}"/>
              </a:ext>
            </a:extLst>
          </p:cNvPr>
          <p:cNvSpPr>
            <a:spLocks noGrp="1"/>
          </p:cNvSpPr>
          <p:nvPr>
            <p:ph type="body" sz="quarter" idx="11"/>
          </p:nvPr>
        </p:nvSpPr>
        <p:spPr/>
        <p:txBody>
          <a:bodyPr>
            <a:normAutofit/>
          </a:bodyPr>
          <a:lstStyle/>
          <a:p>
            <a:r>
              <a:rPr lang="en-US" b="0" dirty="0">
                <a:latin typeface="Calibri" panose="020F0502020204030204" pitchFamily="34" charset="0"/>
                <a:cs typeface="Calibri" panose="020F0502020204030204" pitchFamily="34" charset="0"/>
              </a:rPr>
              <a:t>Delea, M. G., Snyder, J. S., Belew, M., Caruso, B. A., Garn, J. V., Sclar, G. D., </a:t>
            </a:r>
            <a:r>
              <a:rPr lang="en-US" b="0" dirty="0" err="1">
                <a:latin typeface="Calibri" panose="020F0502020204030204" pitchFamily="34" charset="0"/>
                <a:cs typeface="Calibri" panose="020F0502020204030204" pitchFamily="34" charset="0"/>
              </a:rPr>
              <a:t>Woreta</a:t>
            </a:r>
            <a:r>
              <a:rPr lang="en-US" b="0" dirty="0">
                <a:latin typeface="Calibri" panose="020F0502020204030204" pitchFamily="34" charset="0"/>
                <a:cs typeface="Calibri" panose="020F0502020204030204" pitchFamily="34" charset="0"/>
              </a:rPr>
              <a:t>, M., </a:t>
            </a:r>
            <a:r>
              <a:rPr lang="en-US" b="0" dirty="0" err="1">
                <a:latin typeface="Calibri" panose="020F0502020204030204" pitchFamily="34" charset="0"/>
                <a:cs typeface="Calibri" panose="020F0502020204030204" pitchFamily="34" charset="0"/>
              </a:rPr>
              <a:t>Zewudie</a:t>
            </a:r>
            <a:r>
              <a:rPr lang="en-US" b="0" dirty="0">
                <a:latin typeface="Calibri" panose="020F0502020204030204" pitchFamily="34" charset="0"/>
                <a:cs typeface="Calibri" panose="020F0502020204030204" pitchFamily="34" charset="0"/>
              </a:rPr>
              <a:t>, K., Gebremariam, A., &amp; Freeman, M. C. (2019). Design of a parallel cluster-randomized trial assessing the impact of a demand-side sanitation and hygiene intervention on sustained behavior change and mental well-being in rural and peri-urban Amhara, Ethiopia: Andilaye study protocol. </a:t>
            </a:r>
            <a:r>
              <a:rPr lang="en-US" b="0" i="1" dirty="0">
                <a:latin typeface="Calibri" panose="020F0502020204030204" pitchFamily="34" charset="0"/>
                <a:cs typeface="Calibri" panose="020F0502020204030204" pitchFamily="34" charset="0"/>
              </a:rPr>
              <a:t>BMC Public Health</a:t>
            </a:r>
            <a:r>
              <a:rPr lang="en-US" b="0" dirty="0">
                <a:latin typeface="Calibri" panose="020F0502020204030204" pitchFamily="34" charset="0"/>
                <a:cs typeface="Calibri" panose="020F0502020204030204" pitchFamily="34" charset="0"/>
              </a:rPr>
              <a:t>, </a:t>
            </a:r>
            <a:r>
              <a:rPr lang="en-US" b="0" i="1" dirty="0">
                <a:latin typeface="Calibri" panose="020F0502020204030204" pitchFamily="34" charset="0"/>
                <a:cs typeface="Calibri" panose="020F0502020204030204" pitchFamily="34" charset="0"/>
              </a:rPr>
              <a:t>19</a:t>
            </a:r>
            <a:r>
              <a:rPr lang="en-US" b="0" dirty="0">
                <a:latin typeface="Calibri" panose="020F0502020204030204" pitchFamily="34" charset="0"/>
                <a:cs typeface="Calibri" panose="020F0502020204030204" pitchFamily="34" charset="0"/>
              </a:rPr>
              <a:t>(1), 801. https://</a:t>
            </a:r>
            <a:r>
              <a:rPr lang="en-US" b="0" dirty="0" err="1">
                <a:latin typeface="Calibri" panose="020F0502020204030204" pitchFamily="34" charset="0"/>
                <a:cs typeface="Calibri" panose="020F0502020204030204" pitchFamily="34" charset="0"/>
              </a:rPr>
              <a:t>doi.org</a:t>
            </a:r>
            <a:r>
              <a:rPr lang="en-US" b="0" dirty="0">
                <a:latin typeface="Calibri" panose="020F0502020204030204" pitchFamily="34" charset="0"/>
                <a:cs typeface="Calibri" panose="020F0502020204030204" pitchFamily="34" charset="0"/>
              </a:rPr>
              <a:t>/10.1186/s12889-019-7040-6</a:t>
            </a:r>
          </a:p>
          <a:p>
            <a:r>
              <a:rPr lang="en-US" b="0" dirty="0">
                <a:latin typeface="Calibri" panose="020F0502020204030204" pitchFamily="34" charset="0"/>
                <a:cs typeface="Calibri" panose="020F0502020204030204" pitchFamily="34" charset="0"/>
              </a:rPr>
              <a:t>Freeman, M. C., Delea, M. G., Snyder, J. S., Garn, J. V., Belew, M., Caruso, B. A., Clasen, T. F., Sclar, G. D., Tesfaye, Y., </a:t>
            </a:r>
            <a:r>
              <a:rPr lang="en-US" b="0" dirty="0" err="1">
                <a:latin typeface="Calibri" panose="020F0502020204030204" pitchFamily="34" charset="0"/>
                <a:cs typeface="Calibri" panose="020F0502020204030204" pitchFamily="34" charset="0"/>
              </a:rPr>
              <a:t>Woreta</a:t>
            </a:r>
            <a:r>
              <a:rPr lang="en-US" b="0" dirty="0">
                <a:latin typeface="Calibri" panose="020F0502020204030204" pitchFamily="34" charset="0"/>
                <a:cs typeface="Calibri" panose="020F0502020204030204" pitchFamily="34" charset="0"/>
              </a:rPr>
              <a:t>, M., </a:t>
            </a:r>
            <a:r>
              <a:rPr lang="en-US" b="0" dirty="0" err="1">
                <a:latin typeface="Calibri" panose="020F0502020204030204" pitchFamily="34" charset="0"/>
                <a:cs typeface="Calibri" panose="020F0502020204030204" pitchFamily="34" charset="0"/>
              </a:rPr>
              <a:t>Zewudie</a:t>
            </a:r>
            <a:r>
              <a:rPr lang="en-US" b="0" dirty="0">
                <a:latin typeface="Calibri" panose="020F0502020204030204" pitchFamily="34" charset="0"/>
                <a:cs typeface="Calibri" panose="020F0502020204030204" pitchFamily="34" charset="0"/>
              </a:rPr>
              <a:t>, K., &amp; </a:t>
            </a:r>
            <a:r>
              <a:rPr lang="en-US" b="0" dirty="0" err="1">
                <a:latin typeface="Calibri" panose="020F0502020204030204" pitchFamily="34" charset="0"/>
                <a:cs typeface="Calibri" panose="020F0502020204030204" pitchFamily="34" charset="0"/>
              </a:rPr>
              <a:t>Gobezayehu</a:t>
            </a:r>
            <a:r>
              <a:rPr lang="en-US" b="0" dirty="0">
                <a:latin typeface="Calibri" panose="020F0502020204030204" pitchFamily="34" charset="0"/>
                <a:cs typeface="Calibri" panose="020F0502020204030204" pitchFamily="34" charset="0"/>
              </a:rPr>
              <a:t>, A. G. (2022). The impact of a demand-side sanitation and hygiene promotion intervention on sustained behavior change and health in Amhara, Ethiopia: A cluster-randomized trial. </a:t>
            </a:r>
            <a:r>
              <a:rPr lang="en-US" b="0" i="1" dirty="0">
                <a:latin typeface="Calibri" panose="020F0502020204030204" pitchFamily="34" charset="0"/>
                <a:cs typeface="Calibri" panose="020F0502020204030204" pitchFamily="34" charset="0"/>
              </a:rPr>
              <a:t>PLOS Global Public Health</a:t>
            </a:r>
            <a:r>
              <a:rPr lang="en-US" b="0" dirty="0">
                <a:latin typeface="Calibri" panose="020F0502020204030204" pitchFamily="34" charset="0"/>
                <a:cs typeface="Calibri" panose="020F0502020204030204" pitchFamily="34" charset="0"/>
              </a:rPr>
              <a:t>, </a:t>
            </a:r>
            <a:r>
              <a:rPr lang="en-US" b="0" i="1" dirty="0">
                <a:latin typeface="Calibri" panose="020F0502020204030204" pitchFamily="34" charset="0"/>
                <a:cs typeface="Calibri" panose="020F0502020204030204" pitchFamily="34" charset="0"/>
              </a:rPr>
              <a:t>2</a:t>
            </a:r>
            <a:r>
              <a:rPr lang="en-US" b="0" dirty="0">
                <a:latin typeface="Calibri" panose="020F0502020204030204" pitchFamily="34" charset="0"/>
                <a:cs typeface="Calibri" panose="020F0502020204030204" pitchFamily="34" charset="0"/>
              </a:rPr>
              <a:t>(1), e0000056. https://</a:t>
            </a:r>
            <a:r>
              <a:rPr lang="en-US" b="0" dirty="0" err="1">
                <a:latin typeface="Calibri" panose="020F0502020204030204" pitchFamily="34" charset="0"/>
                <a:cs typeface="Calibri" panose="020F0502020204030204" pitchFamily="34" charset="0"/>
              </a:rPr>
              <a:t>doi.org</a:t>
            </a:r>
            <a:r>
              <a:rPr lang="en-US" b="0" dirty="0">
                <a:latin typeface="Calibri" panose="020F0502020204030204" pitchFamily="34" charset="0"/>
                <a:cs typeface="Calibri" panose="020F0502020204030204" pitchFamily="34" charset="0"/>
              </a:rPr>
              <a:t>/10.1371/journal.pgph.0000056</a:t>
            </a:r>
          </a:p>
        </p:txBody>
      </p:sp>
      <p:sp>
        <p:nvSpPr>
          <p:cNvPr id="3" name="Title 2">
            <a:extLst>
              <a:ext uri="{FF2B5EF4-FFF2-40B4-BE49-F238E27FC236}">
                <a16:creationId xmlns:a16="http://schemas.microsoft.com/office/drawing/2014/main" id="{3863DB44-21A7-7F4C-51A9-49A357A2C3F3}"/>
              </a:ext>
            </a:extLst>
          </p:cNvPr>
          <p:cNvSpPr>
            <a:spLocks noGrp="1"/>
          </p:cNvSpPr>
          <p:nvPr>
            <p:ph type="title"/>
          </p:nvPr>
        </p:nvSpPr>
        <p:spPr/>
        <p:txBody>
          <a:bodyPr>
            <a:normAutofit/>
          </a:bodyPr>
          <a:lstStyle/>
          <a:p>
            <a:r>
              <a:rPr lang="en-US" sz="3600" dirty="0">
                <a:solidFill>
                  <a:srgbClr val="4B2D83"/>
                </a:solidFill>
              </a:rPr>
              <a:t>References</a:t>
            </a:r>
          </a:p>
        </p:txBody>
      </p:sp>
    </p:spTree>
    <p:extLst>
      <p:ext uri="{BB962C8B-B14F-4D97-AF65-F5344CB8AC3E}">
        <p14:creationId xmlns:p14="http://schemas.microsoft.com/office/powerpoint/2010/main" val="574471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D0E7F0A-5843-044A-BD4D-6B674C078938}">
  <we:reference id="WA200010001" version="1.0.0.1" store="Omex" storeType="OMEX"/>
  <we:alternateReferences>
    <we:reference id="WA200010001" version="1.0.0.1" store="WA200010001" storeType="OMEX"/>
  </we:alternateReferences>
  <we:properties>
    <we:property name="claude.fileId" value="&quot;d8f95ec0-50de-440f-89c5-8eeb01cb021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12202</TotalTime>
  <Words>3559</Words>
  <Application>Microsoft Office PowerPoint</Application>
  <PresentationFormat>Widescreen</PresentationFormat>
  <Paragraphs>267</Paragraphs>
  <Slides>17</Slides>
  <Notes>15</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Calibri Light</vt:lpstr>
      <vt:lpstr>Cambria Math</vt:lpstr>
      <vt:lpstr>Encode Sans Normal</vt:lpstr>
      <vt:lpstr>Encode Sans Normal Black</vt:lpstr>
      <vt:lpstr>Lucida Grande</vt:lpstr>
      <vt:lpstr>Open Sans</vt:lpstr>
      <vt:lpstr>Times New Roman</vt:lpstr>
      <vt:lpstr>Office Theme</vt:lpstr>
      <vt:lpstr>Beyond Failing to Reject: A Bayesian Approach to Evaluating the Andilaye WASH Intervention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Drain</dc:creator>
  <cp:lastModifiedBy>William R Garcia</cp:lastModifiedBy>
  <cp:revision>341</cp:revision>
  <cp:lastPrinted>2020-12-18T19:05:34Z</cp:lastPrinted>
  <dcterms:created xsi:type="dcterms:W3CDTF">2020-12-10T17:25:14Z</dcterms:created>
  <dcterms:modified xsi:type="dcterms:W3CDTF">2026-06-02T19:32:58Z</dcterms:modified>
</cp:coreProperties>
</file>